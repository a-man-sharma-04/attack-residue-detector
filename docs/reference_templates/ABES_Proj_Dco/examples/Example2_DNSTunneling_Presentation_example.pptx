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live demo + a backup screen recording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12403F"/>
              </a:gs>
              <a:gs pos="55000">
                <a:srgbClr val="0B1220"/>
              </a:gs>
            </a:gsLst>
            <a:path path="circle">
              <a:fillToRect l="82000" t="45000" r="18000" b="55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7000"/>
                </a:srgbClr>
              </a:gs>
              <a:gs pos="1042">
                <a:srgbClr val="2DD4BF">
                  <a:alpha val="7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7000"/>
                </a:srgbClr>
              </a:gs>
              <a:gs pos="1042">
                <a:srgbClr val="2DD4BF">
                  <a:alpha val="7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171" y="1269967"/>
            <a:ext cx="4063991" cy="40639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50" y="812750"/>
            <a:ext cx="1248290" cy="314895"/>
          </a:xfrm>
          <a:prstGeom prst="roundRect">
            <a:avLst>
              <a:gd name="adj" fmla="val 16132"/>
            </a:avLst>
          </a:prstGeom>
          <a:solidFill>
            <a:srgbClr val="F5A5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1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(EXAMPLE)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13385" y="863532"/>
            <a:ext cx="263678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594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(example name, use your own)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750" y="2307099"/>
            <a:ext cx="7063693" cy="854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28"/>
              </a:lnSpc>
              <a:buNone/>
            </a:pPr>
            <a:r>
              <a:rPr lang="en-US" sz="6400" b="1" spc="-15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DNSentinel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812750" y="3313918"/>
            <a:ext cx="7063693" cy="75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Entropy-based DNS Tunneling Detection with Risk Scoring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12750" y="5224847"/>
            <a:ext cx="10883467" cy="345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Ananya Gupta </a:t>
            </a:r>
            <a:r>
              <a:rPr lang="en-US" sz="18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</a:t>
            </a:r>
            <a:r>
              <a:rPr lang="en-US" sz="1800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Roll 24B01010YY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5925" y="5700395"/>
            <a:ext cx="1875595" cy="341635"/>
          </a:xfrm>
          <a:prstGeom prst="roundRect">
            <a:avLst>
              <a:gd name="adj" fmla="val 13940"/>
            </a:avLst>
          </a:prstGeom>
          <a:noFill/>
          <a:ln w="6350">
            <a:solidFill>
              <a:srgbClr val="2A3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Dept. of CSE, ABES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74012" y="5700395"/>
            <a:ext cx="595604" cy="341635"/>
          </a:xfrm>
          <a:prstGeom prst="roundRect">
            <a:avLst>
              <a:gd name="adj" fmla="val 13940"/>
            </a:avLst>
          </a:prstGeom>
          <a:noFill/>
          <a:ln w="6350">
            <a:solidFill>
              <a:srgbClr val="2A3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AKTU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52109" y="5700395"/>
            <a:ext cx="1601276" cy="341635"/>
          </a:xfrm>
          <a:prstGeom prst="roundRect">
            <a:avLst>
              <a:gd name="adj" fmla="val 13940"/>
            </a:avLst>
          </a:prstGeom>
          <a:noFill/>
          <a:ln w="6350">
            <a:solidFill>
              <a:srgbClr val="2A3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4D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2025–26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5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115556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6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2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223385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22252" y="2180537"/>
            <a:ext cx="2904588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&amp; Problem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12750" y="2704391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292348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22252" y="2870167"/>
            <a:ext cx="1341056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50" y="3394021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50" y="361311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2252" y="3559796"/>
            <a:ext cx="4093552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Proposed System &amp; Architecture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2750" y="4083651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750" y="430274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22252" y="4249426"/>
            <a:ext cx="1242209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24535" y="2014762"/>
            <a:ext cx="505468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535" y="223385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34036" y="2180537"/>
            <a:ext cx="2983948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&amp; Demo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24535" y="2704391"/>
            <a:ext cx="505468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4535" y="292348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34036" y="2870167"/>
            <a:ext cx="963604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24535" y="3394021"/>
            <a:ext cx="505468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4535" y="361311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34036" y="3559796"/>
            <a:ext cx="3381306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 &amp; Future Scope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2750" y="6238248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17124" y="6238248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6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503436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6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Background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1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2269359"/>
            <a:ext cx="507957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73094" y="2243999"/>
            <a:ext cx="6139116" cy="36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DNS is allowed through almost every firewall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12750" y="2810966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3065565"/>
            <a:ext cx="507957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73094" y="3040204"/>
            <a:ext cx="6289004" cy="36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Attackers hide stolen data inside DNS queries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2750" y="3607172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50" y="3861770"/>
            <a:ext cx="507957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73094" y="3836409"/>
            <a:ext cx="7331563" cy="36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Detecting the odd query pattern reveals the channel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100000">
                <a:srgbClr val="0D4F4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A9DCD5"/>
          </a:solidFill>
          <a:ln/>
        </p:spPr>
      </p:sp>
      <p:sp>
        <p:nvSpPr>
          <p:cNvPr id="4" name="Text 2"/>
          <p:cNvSpPr/>
          <p:nvPr/>
        </p:nvSpPr>
        <p:spPr>
          <a:xfrm>
            <a:off x="1168283" y="812749"/>
            <a:ext cx="2503436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A9D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750" y="1153066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750" y="3329859"/>
            <a:ext cx="9810744" cy="58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spc="-5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Firewalls do not inspect DNS payloads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12750" y="4307695"/>
            <a:ext cx="101564" cy="101564"/>
          </a:xfrm>
          <a:prstGeom prst="roundRect">
            <a:avLst>
              <a:gd name="adj" fmla="val 25009"/>
            </a:avLst>
          </a:pr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1066659" y="4193391"/>
            <a:ext cx="4446877" cy="35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D4EFE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Need a lightweight statistical detector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D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D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115556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8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5163" y="2270023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324492" y="2167796"/>
            <a:ext cx="5935554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 DNS tunneling traffic and a normal baseline safely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5925" y="2709404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63" y="2964666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324492" y="2862439"/>
            <a:ext cx="5897119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Compute length, frequency and Shannon entropy per query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5925" y="3404043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5163" y="3659308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324492" y="3557079"/>
            <a:ext cx="5755254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Combine them into a Low/Medium/High/Critical risk score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5925" y="4098686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5163" y="4353948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324492" y="4251722"/>
            <a:ext cx="5715885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Flag High/Critical sources and show them on a dashboard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15925" y="4793329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5163" y="5048591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1324492" y="4946362"/>
            <a:ext cx="7217375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Demonstrate that tunnel traffic scores high while normal DNS scores low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7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503436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8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Literature Survey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Existing 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4"/>
            <a:ext cx="3380329" cy="2158789"/>
          </a:xfrm>
          <a:prstGeom prst="roundRect">
            <a:avLst>
              <a:gd name="adj" fmla="val 5736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1365" y="2320203"/>
            <a:ext cx="2852532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1365" y="2685879"/>
            <a:ext cx="2852532" cy="317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Blocklists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21365" y="3130358"/>
            <a:ext cx="304751" cy="1902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121365" y="3301721"/>
            <a:ext cx="2852532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 new domains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05792" y="2014764"/>
            <a:ext cx="3380389" cy="2158789"/>
          </a:xfrm>
          <a:prstGeom prst="roundRect">
            <a:avLst>
              <a:gd name="adj" fmla="val 5736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1232" y="2320203"/>
            <a:ext cx="2852594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11232" y="2685879"/>
            <a:ext cx="2852594" cy="609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 packet inspection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11232" y="3422489"/>
            <a:ext cx="304751" cy="1902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711232" y="3593852"/>
            <a:ext cx="2852594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heavy/costly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95719" y="2014764"/>
            <a:ext cx="3380329" cy="2158789"/>
          </a:xfrm>
          <a:prstGeom prst="roundRect">
            <a:avLst>
              <a:gd name="adj" fmla="val 5736"/>
            </a:avLst>
          </a:prstGeom>
          <a:solidFill>
            <a:srgbClr val="0E1726"/>
          </a:solidFill>
          <a:ln w="6350">
            <a:solidFill>
              <a:srgbClr val="0E1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1159" y="2320203"/>
            <a:ext cx="2852532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1159" y="2685879"/>
            <a:ext cx="2852532" cy="317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DNSentinel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301159" y="3130358"/>
            <a:ext cx="304751" cy="1902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8301159" y="3301721"/>
            <a:ext cx="2852532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B8C4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light statistical risk scoring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341370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PROPOSED SYSTEM &amp;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Proposed System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Methodology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2216213" cy="1195022"/>
          </a:xfrm>
          <a:prstGeom prst="roundRect">
            <a:avLst>
              <a:gd name="adj" fmla="val 9299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6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5163" y="2243999"/>
            <a:ext cx="304751" cy="3047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5163" y="2675734"/>
            <a:ext cx="1810470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Attack</a:t>
            </a:r>
            <a:endParaRPr lang="en-US" sz="20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3162297" y="2523387"/>
            <a:ext cx="304751" cy="17776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97208" y="2014761"/>
            <a:ext cx="2216273" cy="1195022"/>
          </a:xfrm>
          <a:prstGeom prst="roundRect">
            <a:avLst>
              <a:gd name="adj" fmla="val 9299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10" name="Image 2" descr="Sear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26446" y="2243999"/>
            <a:ext cx="304751" cy="3047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26446" y="2675734"/>
            <a:ext cx="1810532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</a:t>
            </a:r>
            <a:endParaRPr lang="en-US" sz="2000" dirty="0"/>
          </a:p>
        </p:txBody>
      </p:sp>
      <p:pic>
        <p:nvPicPr>
          <p:cNvPr id="12" name="Image 3" descr="arrow-right">    </p:cNvPr>
          <p:cNvPicPr>
            <a:picLocks noChangeAspect="1"/>
          </p:cNvPicPr>
          <p:nvPr/>
        </p:nvPicPr>
        <p:blipFill>
          <a:blip r:embed="rId4"/>
          <a:srcRect l="-1" r="-1" t="0" b="0"/>
          <a:stretch/>
        </p:blipFill>
        <p:spPr>
          <a:xfrm>
            <a:off x="5943641" y="2523387"/>
            <a:ext cx="304751" cy="17776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378552" y="2014761"/>
            <a:ext cx="2216213" cy="1195022"/>
          </a:xfrm>
          <a:prstGeom prst="roundRect">
            <a:avLst>
              <a:gd name="adj" fmla="val 9299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14" name="Image 4" descr="Activity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07789" y="2243999"/>
            <a:ext cx="304751" cy="30475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07789" y="2675734"/>
            <a:ext cx="1810470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Detection</a:t>
            </a:r>
            <a:endParaRPr lang="en-US" sz="2000" dirty="0"/>
          </a:p>
        </p:txBody>
      </p:sp>
      <p:pic>
        <p:nvPicPr>
          <p:cNvPr id="16" name="Image 5" descr="arrow-right">    </p:cNvPr>
          <p:cNvPicPr>
            <a:picLocks noChangeAspect="1"/>
          </p:cNvPicPr>
          <p:nvPr/>
        </p:nvPicPr>
        <p:blipFill>
          <a:blip r:embed="rId6"/>
          <a:srcRect l="-1" r="-1" t="0" b="0"/>
          <a:stretch/>
        </p:blipFill>
        <p:spPr>
          <a:xfrm>
            <a:off x="8724924" y="2523387"/>
            <a:ext cx="304751" cy="177766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9159835" y="2014761"/>
            <a:ext cx="2216213" cy="1195022"/>
          </a:xfrm>
          <a:prstGeom prst="roundRect">
            <a:avLst>
              <a:gd name="adj" fmla="val 9299"/>
            </a:avLst>
          </a:prstGeom>
          <a:solidFill>
            <a:srgbClr val="0E1726"/>
          </a:solidFill>
          <a:ln w="6350">
            <a:solidFill>
              <a:srgbClr val="0E1726"/>
            </a:solidFill>
            <a:prstDash val="solid"/>
          </a:ln>
        </p:spPr>
      </p:sp>
      <p:pic>
        <p:nvPicPr>
          <p:cNvPr id="18" name="Image 6" descr="Verified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389073" y="2243999"/>
            <a:ext cx="304751" cy="30475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389073" y="2675734"/>
            <a:ext cx="1810470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Response</a:t>
            </a:r>
            <a:endParaRPr lang="en-US" sz="2000" dirty="0"/>
          </a:p>
        </p:txBody>
      </p:sp>
      <p:sp>
        <p:nvSpPr>
          <p:cNvPr id="20" name="Text 11"/>
          <p:cNvSpPr/>
          <p:nvPr/>
        </p:nvSpPr>
        <p:spPr>
          <a:xfrm>
            <a:off x="812750" y="3568551"/>
            <a:ext cx="5207034" cy="687033"/>
          </a:xfrm>
          <a:prstGeom prst="roundRect">
            <a:avLst>
              <a:gd name="adj" fmla="val 14788"/>
            </a:avLst>
          </a:prstGeom>
          <a:solidFill>
            <a:srgbClr val="EAEFF3"/>
          </a:solidFill>
          <a:ln/>
        </p:spPr>
        <p:txBody>
          <a:bodyPr wrap="square" lIns="233623" tIns="173442" rIns="198842" bIns="148017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Features: length + frequency + entropy</a:t>
            </a:r>
            <a:endParaRPr lang="en-US" sz="1700" dirty="0"/>
          </a:p>
        </p:txBody>
      </p:sp>
      <p:sp>
        <p:nvSpPr>
          <p:cNvPr id="21" name="Shape 12"/>
          <p:cNvSpPr/>
          <p:nvPr/>
        </p:nvSpPr>
        <p:spPr>
          <a:xfrm>
            <a:off x="812750" y="3568551"/>
            <a:ext cx="5207034" cy="687033"/>
          </a:xfrm>
          <a:custGeom>
            <a:avLst/>
            <a:gdLst/>
            <a:ahLst/>
            <a:cxnLst/>
            <a:rect l="l" t="t" r="r" b="b"/>
            <a:pathLst>
              <a:path w="5207034" h="687033">
                <a:moveTo>
                  <a:pt x="101600" y="687033"/>
                </a:moveTo>
                <a:lnTo>
                  <a:pt x="101600" y="687033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585433"/>
                </a:lnTo>
                <a:arcTo hR="101600" wR="63500" stAng="10800000" swAng="-5400000"/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2" name="Text 13"/>
          <p:cNvSpPr/>
          <p:nvPr/>
        </p:nvSpPr>
        <p:spPr>
          <a:xfrm>
            <a:off x="6172129" y="3568551"/>
            <a:ext cx="5207094" cy="687033"/>
          </a:xfrm>
          <a:prstGeom prst="roundRect">
            <a:avLst>
              <a:gd name="adj" fmla="val 14788"/>
            </a:avLst>
          </a:prstGeom>
          <a:solidFill>
            <a:srgbClr val="EAEFF3"/>
          </a:solidFill>
          <a:ln/>
        </p:spPr>
        <p:txBody>
          <a:bodyPr wrap="square" lIns="233623" tIns="173442" rIns="198842" bIns="148017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Weighted score → Low/Med/High/Critical</a:t>
            </a:r>
            <a:endParaRPr lang="en-US" sz="1700" dirty="0"/>
          </a:p>
        </p:txBody>
      </p:sp>
      <p:sp>
        <p:nvSpPr>
          <p:cNvPr id="23" name="Shape 14"/>
          <p:cNvSpPr/>
          <p:nvPr/>
        </p:nvSpPr>
        <p:spPr>
          <a:xfrm>
            <a:off x="6172129" y="3568551"/>
            <a:ext cx="5207094" cy="687033"/>
          </a:xfrm>
          <a:custGeom>
            <a:avLst/>
            <a:gdLst/>
            <a:ahLst/>
            <a:cxnLst/>
            <a:rect l="l" t="t" r="r" b="b"/>
            <a:pathLst>
              <a:path w="5207094" h="687033">
                <a:moveTo>
                  <a:pt x="101600" y="687033"/>
                </a:moveTo>
                <a:lnTo>
                  <a:pt x="101600" y="687033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585433"/>
                </a:lnTo>
                <a:arcTo hR="101600" wR="63500" stAng="10800000" swAng="-5400000"/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4" name="Text 15"/>
          <p:cNvSpPr/>
          <p:nvPr/>
        </p:nvSpPr>
        <p:spPr>
          <a:xfrm>
            <a:off x="812750" y="6238246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9417124" y="6238246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341370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PROPOSED SYSTEM &amp;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8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5702272" cy="3416247"/>
          </a:xfrm>
          <a:prstGeom prst="roundRect">
            <a:avLst>
              <a:gd name="adj" fmla="val 3532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4343" y="2023179"/>
            <a:ext cx="5691785" cy="3405760"/>
          </a:xfrm>
          <a:prstGeom prst="roundRect">
            <a:avLst>
              <a:gd name="adj" fmla="val 3389"/>
            </a:avLst>
          </a:pr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270999" tIns="270999" rIns="270999" bIns="270999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[Architecture diagram]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84866" y="2014761"/>
            <a:ext cx="4591181" cy="614081"/>
          </a:xfrm>
          <a:prstGeom prst="roundRect">
            <a:avLst>
              <a:gd name="adj" fmla="val 16028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88743" y="2215136"/>
            <a:ext cx="5079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98246" y="2193218"/>
            <a:ext cx="2283767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Generator → DNS capture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84866" y="2736757"/>
            <a:ext cx="4591181" cy="614081"/>
          </a:xfrm>
          <a:prstGeom prst="roundRect">
            <a:avLst>
              <a:gd name="adj" fmla="val 16028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8743" y="2937132"/>
            <a:ext cx="5079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98246" y="2915211"/>
            <a:ext cx="2713217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Scoring engine → risk category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84866" y="3458750"/>
            <a:ext cx="4591181" cy="871251"/>
          </a:xfrm>
          <a:prstGeom prst="roundRect">
            <a:avLst>
              <a:gd name="adj" fmla="val 1129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8743" y="3787679"/>
            <a:ext cx="5079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98246" y="3637207"/>
            <a:ext cx="3681143" cy="539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Flask dashboard → analyst blocks domain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750" y="6238246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17124" y="6238246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104512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Flow Diagram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10553773" cy="3035293"/>
          </a:xfrm>
          <a:prstGeom prst="roundRect">
            <a:avLst>
              <a:gd name="adj" fmla="val 3975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4343" y="2023182"/>
            <a:ext cx="10543286" cy="3024806"/>
          </a:xfrm>
          <a:prstGeom prst="roundRect">
            <a:avLst>
              <a:gd name="adj" fmla="val 3815"/>
            </a:avLst>
          </a:pr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270999" tIns="270999" rIns="270999" bIns="270999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[DFD Level 0 &amp; Level 1]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5925" y="5240524"/>
            <a:ext cx="849694" cy="359387"/>
          </a:xfrm>
          <a:prstGeom prst="roundRect">
            <a:avLst>
              <a:gd name="adj" fmla="val 50000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70358" y="5286859"/>
            <a:ext cx="241307" cy="29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65603" y="5240524"/>
            <a:ext cx="1047809" cy="359387"/>
          </a:xfrm>
          <a:prstGeom prst="roundRect">
            <a:avLst>
              <a:gd name="adj" fmla="val 50000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18151" y="5286859"/>
            <a:ext cx="241307" cy="29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13397" y="5240524"/>
            <a:ext cx="1146897" cy="359387"/>
          </a:xfrm>
          <a:prstGeom prst="roundRect">
            <a:avLst>
              <a:gd name="adj" fmla="val 50000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65033" y="5286859"/>
            <a:ext cx="241307" cy="29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60279" y="5240524"/>
            <a:ext cx="1047809" cy="359387"/>
          </a:xfrm>
          <a:prstGeom prst="roundRect">
            <a:avLst>
              <a:gd name="adj" fmla="val 50000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1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2200827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3094" y="2180537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Traffic generator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978244" y="2196716"/>
            <a:ext cx="6593008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tunnel + baseline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50" y="2638332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750" y="2824398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73094" y="2804108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Capture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978244" y="2820287"/>
            <a:ext cx="6593008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pcap/log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750" y="3261903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750" y="3447969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73094" y="3427679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Scoring engine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978244" y="3443858"/>
            <a:ext cx="6593008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length + frequency + entropy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2750" y="3885474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750" y="4071541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73094" y="4051250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classifier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978244" y="4067429"/>
            <a:ext cx="6593008" cy="28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B677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Low/Med/High/Critical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2750" y="4509046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750" y="4695106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73094" y="4674822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Flask dashboard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11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71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7"/>
            <a:ext cx="5188003" cy="1084522"/>
          </a:xfrm>
          <a:prstGeom prst="roundRect">
            <a:avLst>
              <a:gd name="adj" fmla="val 1141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0584" y="2269424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</p:sp>
      <p:pic>
        <p:nvPicPr>
          <p:cNvPr id="7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10249" y="2409087"/>
            <a:ext cx="279390" cy="279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32552" y="2269424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32552" y="2558895"/>
            <a:ext cx="4034219" cy="31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Flask dashboard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188044" y="2014767"/>
            <a:ext cx="5188003" cy="1084522"/>
          </a:xfrm>
          <a:prstGeom prst="roundRect">
            <a:avLst>
              <a:gd name="adj" fmla="val 1141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2703" y="2269424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</p:sp>
      <p:pic>
        <p:nvPicPr>
          <p:cNvPr id="12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2368" y="2409087"/>
            <a:ext cx="279390" cy="279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4671" y="2269424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BACKEND: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204671" y="2558895"/>
            <a:ext cx="4034219" cy="31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 scoring engine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15925" y="3283403"/>
            <a:ext cx="5188003" cy="1370253"/>
          </a:xfrm>
          <a:prstGeom prst="roundRect">
            <a:avLst>
              <a:gd name="adj" fmla="val 903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70584" y="3538060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</p:sp>
      <p:pic>
        <p:nvPicPr>
          <p:cNvPr id="17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10249" y="3677729"/>
            <a:ext cx="279390" cy="279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32552" y="3538060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DATA: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832552" y="3827537"/>
            <a:ext cx="4034219" cy="59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SQLite; capture via Scapy/tcpdump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188044" y="3283403"/>
            <a:ext cx="5188003" cy="1370253"/>
          </a:xfrm>
          <a:prstGeom prst="roundRect">
            <a:avLst>
              <a:gd name="adj" fmla="val 903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42703" y="3538060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</p:sp>
      <p:pic>
        <p:nvPicPr>
          <p:cNvPr id="22" name="Image 3" descr="Cloud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2368" y="3677729"/>
            <a:ext cx="279390" cy="279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04671" y="3538060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VM: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204671" y="3827537"/>
            <a:ext cx="4034219" cy="31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Ubuntu on VirtualBox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Screenshots (1)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6718270" cy="3416247"/>
          </a:xfrm>
          <a:prstGeom prst="roundRect">
            <a:avLst>
              <a:gd name="adj" fmla="val 3532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4343" y="2023182"/>
            <a:ext cx="6707783" cy="355533"/>
          </a:xfrm>
          <a:custGeom>
            <a:avLst/>
            <a:gdLst/>
            <a:ahLst/>
            <a:cxnLst/>
            <a:rect l="l" t="t" r="r" b="b"/>
            <a:pathLst>
              <a:path w="6707783" h="355533">
                <a:moveTo>
                  <a:pt x="0" y="115407"/>
                </a:moveTo>
                <a:arcTo hR="115407" wR="115407" stAng="10800000" swAng="5400000"/>
                <a:lnTo>
                  <a:pt x="6592376" y="0"/>
                </a:lnTo>
                <a:arcTo hR="115407" wR="115407" stAng="16200000" swAng="5400000"/>
                <a:lnTo>
                  <a:pt x="6707783" y="355533"/>
                </a:lnTo>
                <a:lnTo>
                  <a:pt x="0" y="355533"/>
                </a:lnTo>
                <a:close/>
              </a:path>
            </a:pathLst>
          </a:custGeom>
          <a:solidFill>
            <a:srgbClr val="D6DEE5"/>
          </a:solidFill>
          <a:ln/>
        </p:spPr>
      </p:sp>
      <p:pic>
        <p:nvPicPr>
          <p:cNvPr id="7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6689" y="2150163"/>
            <a:ext cx="101564" cy="101564"/>
          </a:xfrm>
          <a:prstGeom prst="rect">
            <a:avLst/>
          </a:prstGeom>
        </p:spPr>
      </p:pic>
      <p:pic>
        <p:nvPicPr>
          <p:cNvPr id="8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4395" y="2150163"/>
            <a:ext cx="101564" cy="101564"/>
          </a:xfrm>
          <a:prstGeom prst="rect">
            <a:avLst/>
          </a:prstGeom>
        </p:spPr>
      </p:pic>
      <p:pic>
        <p:nvPicPr>
          <p:cNvPr id="9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32101" y="2150163"/>
            <a:ext cx="101564" cy="1015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4343" y="2378714"/>
            <a:ext cx="6707783" cy="3050227"/>
          </a:xfrm>
          <a:custGeom>
            <a:avLst/>
            <a:gdLst/>
            <a:ahLst/>
            <a:cxnLst/>
            <a:rect l="l" t="t" r="r" b="b"/>
            <a:pathLst>
              <a:path w="6707783" h="3050227">
                <a:moveTo>
                  <a:pt x="6707783" y="2934821"/>
                </a:moveTo>
                <a:arcTo hR="115407" wR="115407" stAng="0" swAng="5400000"/>
                <a:lnTo>
                  <a:pt x="115407" y="3050227"/>
                </a:lnTo>
                <a:arcTo hR="115407" wR="115407" stAng="5400000" swAng="5400000"/>
                <a:lnTo>
                  <a:pt x="0" y="0"/>
                </a:lnTo>
                <a:lnTo>
                  <a:pt x="6707783" y="0"/>
                </a:lnTo>
                <a:close/>
              </a:path>
            </a:pathLst>
          </a:cu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304800" tIns="304800" rIns="304800" bIns="30480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[Screenshot: tunnel generator sending long subdomains]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899313" y="2024286"/>
            <a:ext cx="347991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899313" y="2339560"/>
            <a:ext cx="88883" cy="88883"/>
          </a:xfrm>
          <a:prstGeom prst="roundRect">
            <a:avLst>
              <a:gd name="adj" fmla="val 21433"/>
            </a:avLst>
          </a:prstGeom>
          <a:solidFill>
            <a:srgbClr val="0F766E"/>
          </a:solidFill>
          <a:ln/>
        </p:spPr>
      </p:sp>
      <p:sp>
        <p:nvSpPr>
          <p:cNvPr id="13" name="Text 8"/>
          <p:cNvSpPr/>
          <p:nvPr/>
        </p:nvSpPr>
        <p:spPr>
          <a:xfrm>
            <a:off x="8115181" y="2237960"/>
            <a:ext cx="3361964" cy="652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Subdomains are long and random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Screenshots (2)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6718270" cy="3416247"/>
          </a:xfrm>
          <a:prstGeom prst="roundRect">
            <a:avLst>
              <a:gd name="adj" fmla="val 3532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4343" y="2023176"/>
            <a:ext cx="6707783" cy="355533"/>
          </a:xfrm>
          <a:custGeom>
            <a:avLst/>
            <a:gdLst/>
            <a:ahLst/>
            <a:cxnLst/>
            <a:rect l="l" t="t" r="r" b="b"/>
            <a:pathLst>
              <a:path w="6707783" h="355533">
                <a:moveTo>
                  <a:pt x="0" y="115407"/>
                </a:moveTo>
                <a:arcTo hR="115407" wR="115407" stAng="10800000" swAng="5400000"/>
                <a:lnTo>
                  <a:pt x="6592376" y="0"/>
                </a:lnTo>
                <a:arcTo hR="115407" wR="115407" stAng="16200000" swAng="5400000"/>
                <a:lnTo>
                  <a:pt x="6707783" y="355533"/>
                </a:lnTo>
                <a:lnTo>
                  <a:pt x="0" y="355533"/>
                </a:lnTo>
                <a:close/>
              </a:path>
            </a:pathLst>
          </a:custGeom>
          <a:solidFill>
            <a:srgbClr val="D6DEE5"/>
          </a:solidFill>
          <a:ln/>
        </p:spPr>
      </p:sp>
      <p:pic>
        <p:nvPicPr>
          <p:cNvPr id="7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6689" y="2150163"/>
            <a:ext cx="101564" cy="101564"/>
          </a:xfrm>
          <a:prstGeom prst="rect">
            <a:avLst/>
          </a:prstGeom>
        </p:spPr>
      </p:pic>
      <p:pic>
        <p:nvPicPr>
          <p:cNvPr id="8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4395" y="2150163"/>
            <a:ext cx="101564" cy="101564"/>
          </a:xfrm>
          <a:prstGeom prst="rect">
            <a:avLst/>
          </a:prstGeom>
        </p:spPr>
      </p:pic>
      <p:pic>
        <p:nvPicPr>
          <p:cNvPr id="9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32101" y="2150163"/>
            <a:ext cx="101564" cy="1015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4343" y="2378714"/>
            <a:ext cx="6707783" cy="3050227"/>
          </a:xfrm>
          <a:custGeom>
            <a:avLst/>
            <a:gdLst/>
            <a:ahLst/>
            <a:cxnLst/>
            <a:rect l="l" t="t" r="r" b="b"/>
            <a:pathLst>
              <a:path w="6707783" h="3050227">
                <a:moveTo>
                  <a:pt x="6707783" y="2934821"/>
                </a:moveTo>
                <a:arcTo hR="115407" wR="115407" stAng="0" swAng="5400000"/>
                <a:lnTo>
                  <a:pt x="115407" y="3050227"/>
                </a:lnTo>
                <a:arcTo hR="115407" wR="115407" stAng="5400000" swAng="5400000"/>
                <a:lnTo>
                  <a:pt x="0" y="0"/>
                </a:lnTo>
                <a:lnTo>
                  <a:pt x="6707783" y="0"/>
                </a:lnTo>
                <a:close/>
              </a:path>
            </a:pathLst>
          </a:cu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304800" tIns="304800" rIns="304800" bIns="30480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[Screenshot: dashboard with colour-coded scores]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899313" y="2024286"/>
            <a:ext cx="347991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899313" y="2339560"/>
            <a:ext cx="88883" cy="88883"/>
          </a:xfrm>
          <a:prstGeom prst="roundRect">
            <a:avLst>
              <a:gd name="adj" fmla="val 21433"/>
            </a:avLst>
          </a:prstGeom>
          <a:solidFill>
            <a:srgbClr val="0F766E"/>
          </a:solidFill>
          <a:ln/>
        </p:spPr>
      </p:sp>
      <p:sp>
        <p:nvSpPr>
          <p:cNvPr id="13" name="Text 8"/>
          <p:cNvSpPr/>
          <p:nvPr/>
        </p:nvSpPr>
        <p:spPr>
          <a:xfrm>
            <a:off x="8115181" y="2237960"/>
            <a:ext cx="3361964" cy="652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Tunnel = Critical, baseline = Low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11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82418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71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Results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10560123" cy="689560"/>
          </a:xfrm>
          <a:prstGeom prst="roundRect">
            <a:avLst>
              <a:gd name="adj" fmla="val 14274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163" y="2219182"/>
            <a:ext cx="9172632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Tunnel traffic scored High/Critical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153818" y="2180537"/>
            <a:ext cx="992992" cy="358008"/>
          </a:xfrm>
          <a:prstGeom prst="roundRect">
            <a:avLst>
              <a:gd name="adj" fmla="val 50000"/>
            </a:avLst>
          </a:prstGeom>
          <a:solidFill>
            <a:srgbClr val="D5F0EC"/>
          </a:solidFill>
          <a:ln/>
        </p:spPr>
      </p:sp>
      <p:pic>
        <p:nvPicPr>
          <p:cNvPr id="8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93483" y="2264290"/>
            <a:ext cx="190447" cy="1904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60072" y="2243999"/>
            <a:ext cx="497873" cy="25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0D4F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5925" y="2812238"/>
            <a:ext cx="10560123" cy="689560"/>
          </a:xfrm>
          <a:prstGeom prst="roundRect">
            <a:avLst>
              <a:gd name="adj" fmla="val 14274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5163" y="3016659"/>
            <a:ext cx="9172632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dirty="0">
                <a:solidFill>
                  <a:srgbClr val="0E172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 baseline scored Low (negative control)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153818" y="2978014"/>
            <a:ext cx="992992" cy="358008"/>
          </a:xfrm>
          <a:prstGeom prst="roundRect">
            <a:avLst>
              <a:gd name="adj" fmla="val 50000"/>
            </a:avLst>
          </a:prstGeom>
          <a:solidFill>
            <a:srgbClr val="D5F0EC"/>
          </a:solidFill>
          <a:ln/>
        </p:spPr>
      </p:sp>
      <p:pic>
        <p:nvPicPr>
          <p:cNvPr id="13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93483" y="3061760"/>
            <a:ext cx="190447" cy="1904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60072" y="3041476"/>
            <a:ext cx="497873" cy="25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0D4F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2750" y="3606533"/>
            <a:ext cx="10566473" cy="848194"/>
          </a:xfrm>
          <a:prstGeom prst="roundRect">
            <a:avLst>
              <a:gd name="adj" fmla="val 11978"/>
            </a:avLst>
          </a:prstGeom>
          <a:solidFill>
            <a:srgbClr val="0E1726"/>
          </a:solidFill>
          <a:ln/>
        </p:spPr>
      </p:sp>
      <p:pic>
        <p:nvPicPr>
          <p:cNvPr id="16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66719" y="3878256"/>
            <a:ext cx="304751" cy="3047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5439" y="3915091"/>
            <a:ext cx="1280129" cy="25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ENTROPY GAP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108738" y="3835084"/>
            <a:ext cx="8257011" cy="41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normal ~3.1 vs tunnel ~4.6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8447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3091768"/>
            <a:ext cx="50782" cy="8762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117501" y="3091768"/>
            <a:ext cx="9496850" cy="901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Statistical features separate tunnel from normal DNS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12750" y="4323637"/>
            <a:ext cx="50782" cy="438136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1117501" y="4323637"/>
            <a:ext cx="9496850" cy="463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scoring gives analysts an actionable signal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18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28447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3397297" cy="1804645"/>
          </a:xfrm>
          <a:prstGeom prst="roundRect">
            <a:avLst>
              <a:gd name="adj" fmla="val 6861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6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1365" y="2320206"/>
            <a:ext cx="355593" cy="355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24882" y="2391333"/>
            <a:ext cx="2336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1365" y="2878981"/>
            <a:ext cx="2870008" cy="660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inline detection at the resolver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97338" y="2014761"/>
            <a:ext cx="3397297" cy="1804645"/>
          </a:xfrm>
          <a:prstGeom prst="roundRect">
            <a:avLst>
              <a:gd name="adj" fmla="val 6861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10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2778" y="2320206"/>
            <a:ext cx="355593" cy="3555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06295" y="2391333"/>
            <a:ext cx="2336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02778" y="2878981"/>
            <a:ext cx="2870008" cy="342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Cover DoH/DoT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7978751" y="2014761"/>
            <a:ext cx="3397297" cy="1804645"/>
          </a:xfrm>
          <a:prstGeom prst="roundRect">
            <a:avLst>
              <a:gd name="adj" fmla="val 6861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</p:sp>
      <p:pic>
        <p:nvPicPr>
          <p:cNvPr id="14" name="Image 2" descr="Lightbul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84191" y="2320206"/>
            <a:ext cx="355593" cy="3555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887708" y="2391333"/>
            <a:ext cx="2336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284191" y="2878981"/>
            <a:ext cx="2870008" cy="660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ML classifier on the same features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12750" y="6238242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417124" y="6238242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18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11"/>
            <a:ext cx="253969" cy="2536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1168283" y="812750"/>
            <a:ext cx="115556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71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1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2193218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3094" y="2193218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IEEE Std 830-1998.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750" y="2658628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2837073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[2]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73094" y="2837073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Varonis, "What is DNS Tunneling?".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50" y="3302484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50" y="3480941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[3]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094" y="3480941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Scapy and dnslib documentation.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750" y="3946339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750" y="4124796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[4]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73094" y="4124796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B47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C. E. Shannon, "A Mathematical Theory of Communication", 1948.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750" y="6238255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DNSentinel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17124" y="6238255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18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4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12403F"/>
              </a:gs>
              <a:gs pos="55000">
                <a:srgbClr val="0B1220"/>
              </a:gs>
            </a:gsLst>
            <a:path path="circle">
              <a:fillToRect l="82000" t="50000" r="18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6000"/>
                </a:srgbClr>
              </a:gs>
              <a:gs pos="1042">
                <a:srgbClr val="2DD4BF">
                  <a:alpha val="6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6000"/>
                </a:srgbClr>
              </a:gs>
              <a:gs pos="1042">
                <a:srgbClr val="2DD4BF">
                  <a:alpha val="6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171" y="1396963"/>
            <a:ext cx="4063991" cy="40639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50" y="2312715"/>
            <a:ext cx="406375" cy="38041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4"/>
          <p:cNvSpPr/>
          <p:nvPr/>
        </p:nvSpPr>
        <p:spPr>
          <a:xfrm>
            <a:off x="812750" y="2604728"/>
            <a:ext cx="10883467" cy="1143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00"/>
              </a:lnSpc>
              <a:buNone/>
            </a:pPr>
            <a:r>
              <a:rPr lang="en-US" sz="8800" b="1" spc="-20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8" name="Text 5"/>
          <p:cNvSpPr/>
          <p:nvPr/>
        </p:nvSpPr>
        <p:spPr>
          <a:xfrm>
            <a:off x="812750" y="3976315"/>
            <a:ext cx="10883467" cy="59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DNSentinel (Example)</dc:title>
  <dc:subject>PptxGenJS Presentation</dc:subject>
  <dc:creator>PptxGenJS</dc:creator>
  <cp:lastModifiedBy>PptxGenJS</cp:lastModifiedBy>
  <cp:revision>1</cp:revision>
  <dcterms:created xsi:type="dcterms:W3CDTF">2026-09-30T09:35:10Z</dcterms:created>
  <dcterms:modified xsi:type="dcterms:W3CDTF">2026-09-30T09:35:10Z</dcterms:modified>
</cp:coreProperties>
</file>