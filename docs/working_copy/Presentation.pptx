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a small comparison table if you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the live demo ready as a fallback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Relationship Id="rId6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Relationship Id="rId6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40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3" cy="6857954"/>
          </a:xfrm>
          <a:prstGeom prst="rect">
            <a:avLst/>
          </a:prstGeom>
          <a:gradFill rotWithShape="1">
            <a:gsLst>
              <a:gs pos="0">
                <a:srgbClr val="12403F"/>
              </a:gs>
              <a:gs pos="55000">
                <a:srgbClr val="0B1220"/>
              </a:gs>
            </a:gsLst>
            <a:path path="circle">
              <a:fillToRect l="82000" t="45000" r="18000" b="55000"/>
            </a:path>
          </a:gra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973" cy="6857954"/>
          </a:xfrm>
          <a:prstGeom prst="rect">
            <a:avLst/>
          </a:prstGeom>
          <a:gradFill rotWithShape="1">
            <a:gsLst>
              <a:gs pos="0">
                <a:srgbClr val="2DD4BF">
                  <a:alpha val="7000"/>
                </a:srgbClr>
              </a:gs>
              <a:gs pos="1042">
                <a:srgbClr val="2DD4BF">
                  <a:alpha val="7000"/>
                </a:srgbClr>
              </a:gs>
              <a:gs pos="1042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0"/>
            <a:ext cx="12191973" cy="6857954"/>
          </a:xfrm>
          <a:prstGeom prst="rect">
            <a:avLst/>
          </a:prstGeom>
          <a:gradFill rotWithShape="1">
            <a:gsLst>
              <a:gs pos="0">
                <a:srgbClr val="2DD4BF">
                  <a:alpha val="7000"/>
                </a:srgbClr>
              </a:gs>
              <a:gs pos="1042">
                <a:srgbClr val="2DD4BF">
                  <a:alpha val="7000"/>
                </a:srgbClr>
              </a:gs>
              <a:gs pos="1042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0"/>
          </a:gra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171" y="1269967"/>
            <a:ext cx="4063991" cy="406399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750" y="812750"/>
            <a:ext cx="406375" cy="38041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12750" y="2437887"/>
            <a:ext cx="7063693" cy="854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Linux Server Attack Residue &amp;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Forensic Response System</a:t>
            </a:r>
          </a:p>
        </p:txBody>
      </p:sp>
      <p:sp>
        <p:nvSpPr>
          <p:cNvPr id="8" name="Text 5"/>
          <p:cNvSpPr/>
          <p:nvPr/>
        </p:nvSpPr>
        <p:spPr>
          <a:xfrm>
            <a:off x="812750" y="4854037"/>
            <a:ext cx="10883467" cy="345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Aman Sharma · Roll No: 2400320100161</a:t>
            </a:r>
          </a:p>
        </p:txBody>
      </p:sp>
      <p:sp>
        <p:nvSpPr>
          <p:cNvPr id="9" name="Text 6"/>
          <p:cNvSpPr/>
          <p:nvPr/>
        </p:nvSpPr>
        <p:spPr>
          <a:xfrm>
            <a:off x="812750" y="5224847"/>
            <a:ext cx="10883467" cy="345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defRPr sz="1300" b="1">
                <a:solidFill>
                  <a:srgbClr val="BAE6FD"/>
                </a:solidFill>
              </a:defRPr>
            </a:pPr>
            <a:r>
              <a:t>Under the guidance of: Sarath G (Cybersecurity Trainer &amp; Consultant)</a:t>
            </a:r>
          </a:p>
        </p:txBody>
      </p:sp>
      <p:sp>
        <p:nvSpPr>
          <p:cNvPr id="10" name="Text 7"/>
          <p:cNvSpPr/>
          <p:nvPr/>
        </p:nvSpPr>
        <p:spPr>
          <a:xfrm>
            <a:off x="815925" y="5700395"/>
            <a:ext cx="3704101" cy="341635"/>
          </a:xfrm>
          <a:prstGeom prst="roundRect">
            <a:avLst>
              <a:gd name="adj" fmla="val 13940"/>
            </a:avLst>
          </a:prstGeom>
          <a:noFill/>
          <a:ln w="6350">
            <a:solidFill>
              <a:srgbClr val="2A3A52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>
              <a:defRPr sz="1100">
                <a:solidFill>
                  <a:srgbClr val="B8C4D3"/>
                </a:solidFill>
              </a:defRPr>
            </a:pPr>
            <a:r>
              <a:t>Dept. of CSE, ABES Engineering College</a:t>
            </a:r>
          </a:p>
        </p:txBody>
      </p:sp>
      <p:sp>
        <p:nvSpPr>
          <p:cNvPr id="11" name="Text 8"/>
          <p:cNvSpPr/>
          <p:nvPr/>
        </p:nvSpPr>
        <p:spPr>
          <a:xfrm>
            <a:off x="4602518" y="5700395"/>
            <a:ext cx="595604" cy="341635"/>
          </a:xfrm>
          <a:prstGeom prst="roundRect">
            <a:avLst>
              <a:gd name="adj" fmla="val 13940"/>
            </a:avLst>
          </a:prstGeom>
          <a:noFill/>
          <a:ln w="6350">
            <a:solidFill>
              <a:srgbClr val="2A3A52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>
              <a:defRPr sz="1100">
                <a:solidFill>
                  <a:srgbClr val="B8C4D3"/>
                </a:solidFill>
              </a:defRPr>
            </a:pPr>
            <a:r>
              <a:t>AKTU</a:t>
            </a:r>
          </a:p>
        </p:txBody>
      </p:sp>
      <p:sp>
        <p:nvSpPr>
          <p:cNvPr id="12" name="Text 9"/>
          <p:cNvSpPr/>
          <p:nvPr/>
        </p:nvSpPr>
        <p:spPr>
          <a:xfrm>
            <a:off x="5280615" y="5700395"/>
            <a:ext cx="1601276" cy="341635"/>
          </a:xfrm>
          <a:prstGeom prst="roundRect">
            <a:avLst>
              <a:gd name="adj" fmla="val 13940"/>
            </a:avLst>
          </a:prstGeom>
          <a:noFill/>
          <a:ln w="6350">
            <a:solidFill>
              <a:srgbClr val="2A3A52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>
              <a:defRPr sz="1100">
                <a:solidFill>
                  <a:srgbClr val="B8C4D3"/>
                </a:solidFill>
              </a:defRPr>
            </a:pPr>
            <a:r>
              <a:t>Session 2026-27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05"/>
            <a:ext cx="253969" cy="25361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168283" y="812750"/>
            <a:ext cx="1707940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t>Linux Server Attack Residue &amp; Forensic Response System</a:t>
            </a:r>
          </a:p>
        </p:txBody>
      </p:sp>
      <p:sp>
        <p:nvSpPr>
          <p:cNvPr id="4" name="Text 2"/>
          <p:cNvSpPr/>
          <p:nvPr/>
        </p:nvSpPr>
        <p:spPr>
          <a:xfrm>
            <a:off x="812750" y="1153066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  <a:defRPr sz="1800" b="1">
                <a:solidFill>
                  <a:srgbClr val="1E293B"/>
                </a:solidFill>
              </a:defRPr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Outline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2750" y="2014762"/>
            <a:ext cx="5054628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12750" y="2233854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  <a:defRPr sz="1800" b="1">
                <a:solidFill>
                  <a:srgbClr val="1E293B"/>
                </a:solidFill>
              </a:defRPr>
            </a:pPr>
            <a:r>
              <a:rPr lang="en-US" sz="14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22252" y="2180537"/>
            <a:ext cx="2904588" cy="38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  <a:defRPr sz="1800" b="1">
                <a:solidFill>
                  <a:srgbClr val="1E293B"/>
                </a:solidFill>
              </a:defRPr>
            </a:pPr>
            <a:r>
              <a:rPr lang="en-US" sz="20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Introduction &amp; Problem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12750" y="2704391"/>
            <a:ext cx="5054628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12750" y="2923484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  <a:defRPr sz="1800" b="1">
                <a:solidFill>
                  <a:srgbClr val="1E293B"/>
                </a:solidFill>
              </a:defRPr>
            </a:pPr>
            <a:r>
              <a:rPr lang="en-US" sz="14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22252" y="2870167"/>
            <a:ext cx="1341056" cy="38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  <a:defRPr sz="1800" b="1">
                <a:solidFill>
                  <a:srgbClr val="1E293B"/>
                </a:solidFill>
              </a:defRPr>
            </a:pPr>
            <a:r>
              <a:rPr lang="en-US" sz="20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Objectives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12750" y="3394021"/>
            <a:ext cx="5054628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12750" y="3613114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  <a:defRPr sz="1800" b="1">
                <a:solidFill>
                  <a:srgbClr val="1E293B"/>
                </a:solidFill>
              </a:defRPr>
            </a:pPr>
            <a:r>
              <a:rPr lang="en-US" sz="14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22252" y="3559796"/>
            <a:ext cx="4093552" cy="38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  <a:defRPr sz="1800" b="1">
                <a:solidFill>
                  <a:srgbClr val="1E293B"/>
                </a:solidFill>
              </a:defRPr>
            </a:pPr>
            <a:r>
              <a:rPr lang="en-US" sz="20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Proposed System &amp; Architecture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12750" y="4083651"/>
            <a:ext cx="5054628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12750" y="4302744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  <a:defRPr sz="1800" b="1">
                <a:solidFill>
                  <a:srgbClr val="1E293B"/>
                </a:solidFill>
              </a:defRPr>
            </a:pPr>
            <a:r>
              <a:rPr lang="en-US" sz="14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22252" y="4249426"/>
            <a:ext cx="1242209" cy="38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  <a:defRPr sz="1800" b="1">
                <a:solidFill>
                  <a:srgbClr val="1E293B"/>
                </a:solidFill>
              </a:defRPr>
            </a:pPr>
            <a:r>
              <a:rPr lang="en-US" sz="20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Flow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324535" y="2014762"/>
            <a:ext cx="5054688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324535" y="2233854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  <a:defRPr sz="1800" b="1">
                <a:solidFill>
                  <a:srgbClr val="1E293B"/>
                </a:solidFill>
              </a:defRPr>
            </a:pPr>
            <a:r>
              <a:rPr lang="en-US" sz="14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34036" y="2180537"/>
            <a:ext cx="2983948" cy="38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  <a:defRPr sz="1800" b="1">
                <a:solidFill>
                  <a:srgbClr val="1E293B"/>
                </a:solidFill>
              </a:defRPr>
            </a:pPr>
            <a:r>
              <a:rPr lang="en-US" sz="20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Implementation &amp; Demo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324535" y="2704391"/>
            <a:ext cx="5054688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324535" y="2923484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  <a:defRPr sz="1800" b="1">
                <a:solidFill>
                  <a:srgbClr val="1E293B"/>
                </a:solidFill>
              </a:defRPr>
            </a:pPr>
            <a:r>
              <a:rPr lang="en-US" sz="14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34036" y="2870167"/>
            <a:ext cx="963604" cy="38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  <a:defRPr sz="1800" b="1">
                <a:solidFill>
                  <a:srgbClr val="1E293B"/>
                </a:solidFill>
              </a:defRPr>
            </a:pPr>
            <a:r>
              <a:rPr lang="en-US" sz="20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Results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324535" y="3394021"/>
            <a:ext cx="5054688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324535" y="3613114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  <a:defRPr sz="1800" b="1">
                <a:solidFill>
                  <a:srgbClr val="1E293B"/>
                </a:solidFill>
              </a:defRPr>
            </a:pPr>
            <a:r>
              <a:rPr lang="en-US" sz="14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34036" y="3559796"/>
            <a:ext cx="3381306" cy="38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  <a:defRPr sz="1800" b="1">
                <a:solidFill>
                  <a:srgbClr val="1E293B"/>
                </a:solidFill>
              </a:defRPr>
            </a:pPr>
            <a:r>
              <a:rPr lang="en-US" sz="200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Conclusion &amp; Future Scope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12750" y="6238248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t>Linux Server Attack Residue &amp; Forensic Response System</a:t>
            </a:r>
          </a:p>
        </p:txBody>
      </p:sp>
      <p:sp>
        <p:nvSpPr>
          <p:cNvPr id="27" name="Text 25"/>
          <p:cNvSpPr/>
          <p:nvPr/>
        </p:nvSpPr>
        <p:spPr>
          <a:xfrm>
            <a:off x="9417124" y="6238248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18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06"/>
            <a:ext cx="253969" cy="25361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168283" y="812750"/>
            <a:ext cx="2503436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INTRODUCTION &amp;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66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Introduction </a:t>
            </a:r>
            <a:r>
              <a:rPr lang="en-US" sz="3600" b="1" spc="-50" kern="0" dirty="0">
                <a:solidFill>
                  <a:srgbClr val="0F76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</a:t>
            </a: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Background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-18288000" y="2014761"/>
            <a:ext cx="10566473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12750" y="2269359"/>
            <a:ext cx="507957" cy="309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  <a:defRPr sz="1900">
                <a:solidFill>
                  <a:srgbClr val="1E293B"/>
                </a:solidFill>
              </a:defRPr>
            </a:pPr>
            <a:r>
              <a:rPr lang="en-US" sz="16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73094" y="2243999"/>
            <a:ext cx="5151163" cy="360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defRPr sz="1900">
                <a:solidFill>
                  <a:srgbClr val="1E293B"/>
                </a:solidFill>
              </a:defRPr>
            </a:pPr>
            <a:r>
              <a:t>• Attackers plant web shells &amp; systemd persistence that remain active after network sessions disconnect.</a:t>
            </a:r>
          </a:p>
          <a:p>
            <a:pPr>
              <a:defRPr sz="1900">
                <a:solidFill>
                  <a:srgbClr val="1E293B"/>
                </a:solidFill>
              </a:defRPr>
            </a:pPr>
            <a:r>
              <a:t>• Standard log collectors produce high alert volume without correlating host file diffs with kernel execution.</a:t>
            </a:r>
          </a:p>
        </p:txBody>
      </p:sp>
      <p:sp>
        <p:nvSpPr>
          <p:cNvPr id="8" name="Shape 6"/>
          <p:cNvSpPr/>
          <p:nvPr/>
        </p:nvSpPr>
        <p:spPr>
          <a:xfrm>
            <a:off x="-18288000" y="2810966"/>
            <a:ext cx="10566473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12750" y="4114800"/>
            <a:ext cx="507957" cy="309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  <a:defRPr sz="1900">
                <a:solidFill>
                  <a:srgbClr val="1E293B"/>
                </a:solidFill>
              </a:defRPr>
            </a:pPr>
            <a:r>
              <a:rPr lang="en-US" sz="16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73094" y="4114800"/>
            <a:ext cx="4382382" cy="360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defRPr sz="1900">
                <a:solidFill>
                  <a:srgbClr val="1E293B"/>
                </a:solidFill>
              </a:defRPr>
            </a:pPr>
            <a:r>
              <a:t>• Over 60% of enterprise Linux server breaches leverage persistent web shells and systemd services.</a:t>
            </a:r>
          </a:p>
        </p:txBody>
      </p:sp>
      <p:sp>
        <p:nvSpPr>
          <p:cNvPr id="11" name="Text 9"/>
          <p:cNvSpPr/>
          <p:nvPr/>
        </p:nvSpPr>
        <p:spPr>
          <a:xfrm>
            <a:off x="812750" y="6238249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t>Linux Server Attack Residue &amp; Forensic Response System</a:t>
            </a:r>
          </a:p>
        </p:txBody>
      </p:sp>
      <p:sp>
        <p:nvSpPr>
          <p:cNvPr id="12" name="Text 10"/>
          <p:cNvSpPr/>
          <p:nvPr/>
        </p:nvSpPr>
        <p:spPr>
          <a:xfrm>
            <a:off x="9417124" y="6238249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18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3" cy="6857954"/>
          </a:xfrm>
          <a:prstGeom prst="rect">
            <a:avLst/>
          </a:prstGeom>
          <a:gradFill rotWithShape="1">
            <a:gsLst>
              <a:gs pos="0">
                <a:srgbClr val="0F766E"/>
              </a:gs>
              <a:gs pos="100000">
                <a:srgbClr val="0D4F4A"/>
              </a:gs>
            </a:gsLst>
            <a:lin ang="2700000" scaled="0"/>
          </a:gra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750" y="906704"/>
            <a:ext cx="253969" cy="25361"/>
          </a:xfrm>
          <a:prstGeom prst="rect">
            <a:avLst/>
          </a:prstGeom>
          <a:solidFill>
            <a:srgbClr val="A9DCD5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168283" y="812749"/>
            <a:ext cx="2503436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A9DC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INTRODUCTION &amp;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750" y="1153066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F4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12750" y="3647351"/>
            <a:ext cx="9810744" cy="58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defRPr sz="2100">
                <a:solidFill>
                  <a:srgbClr val="F0F9FF"/>
                </a:solidFill>
              </a:defRPr>
            </a:pPr>
            <a:r>
              <a:t>• Lack of lightweight, zero-dependency residue detection that automatically correlates state diffs with Auditd syscall events.</a:t>
            </a:r>
          </a:p>
          <a:p>
            <a:pPr>
              <a:defRPr sz="2100">
                <a:solidFill>
                  <a:srgbClr val="F0F9FF"/>
                </a:solidFill>
              </a:defRPr>
            </a:pPr>
            <a:r>
              <a:t>• Existing security tools either lack automated containment or introduce complex external agent dependencies.</a:t>
            </a:r>
          </a:p>
        </p:txBody>
      </p:sp>
      <p:sp>
        <p:nvSpPr>
          <p:cNvPr id="7" name="Text 5"/>
          <p:cNvSpPr/>
          <p:nvPr/>
        </p:nvSpPr>
        <p:spPr>
          <a:xfrm>
            <a:off x="812750" y="6238249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t>Linux Server Attack Residue &amp; Forensic Response System</a:t>
            </a:r>
          </a:p>
        </p:txBody>
      </p:sp>
      <p:sp>
        <p:nvSpPr>
          <p:cNvPr id="8" name="Text 6"/>
          <p:cNvSpPr/>
          <p:nvPr/>
        </p:nvSpPr>
        <p:spPr>
          <a:xfrm>
            <a:off x="9417124" y="6238249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DC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18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04"/>
            <a:ext cx="253969" cy="25361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168283" y="812750"/>
            <a:ext cx="1155560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68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  <a:defRPr sz="1800" b="1">
                <a:solidFill>
                  <a:srgbClr val="1E293B"/>
                </a:solidFill>
              </a:defRPr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Objectives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5925" y="2014761"/>
            <a:ext cx="10560123" cy="586728"/>
          </a:xfrm>
          <a:prstGeom prst="roundRect">
            <a:avLst>
              <a:gd name="adj" fmla="val 16775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45163" y="2270023"/>
            <a:ext cx="76142" cy="7614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324492" y="216779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defRPr sz="1800" b="1">
                <a:solidFill>
                  <a:srgbClr val="1E293B"/>
                </a:solidFill>
              </a:defRPr>
            </a:pPr>
            <a:r>
              <a:t>Simulate controlled compromise scenarios (web shell &amp; service persistence).</a:t>
            </a:r>
          </a:p>
        </p:txBody>
      </p:sp>
      <p:sp>
        <p:nvSpPr>
          <p:cNvPr id="8" name="Shape 6"/>
          <p:cNvSpPr/>
          <p:nvPr/>
        </p:nvSpPr>
        <p:spPr>
          <a:xfrm>
            <a:off x="815925" y="2709404"/>
            <a:ext cx="10560123" cy="586728"/>
          </a:xfrm>
          <a:prstGeom prst="roundRect">
            <a:avLst>
              <a:gd name="adj" fmla="val 16775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045163" y="2964666"/>
            <a:ext cx="76142" cy="7614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324492" y="2862439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defRPr sz="1800" b="1">
                <a:solidFill>
                  <a:srgbClr val="1E293B"/>
                </a:solidFill>
              </a:defRPr>
            </a:pPr>
            <a:r>
              <a:t>Detect state deviations using SHA256 baseline diffing &amp; Auditd event correlation.</a:t>
            </a:r>
          </a:p>
        </p:txBody>
      </p:sp>
      <p:sp>
        <p:nvSpPr>
          <p:cNvPr id="11" name="Shape 9"/>
          <p:cNvSpPr/>
          <p:nvPr/>
        </p:nvSpPr>
        <p:spPr>
          <a:xfrm>
            <a:off x="815925" y="3404043"/>
            <a:ext cx="10560123" cy="586728"/>
          </a:xfrm>
          <a:prstGeom prst="roundRect">
            <a:avLst>
              <a:gd name="adj" fmla="val 16775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045163" y="3659308"/>
            <a:ext cx="76142" cy="7614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324492" y="3557079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defRPr sz="1800" b="1">
                <a:solidFill>
                  <a:srgbClr val="1E293B"/>
                </a:solidFill>
              </a:defRPr>
            </a:pPr>
            <a:r>
              <a:t>Execute automated incident containment (kill processes, disable services, restore baseline).</a:t>
            </a:r>
          </a:p>
        </p:txBody>
      </p:sp>
      <p:sp>
        <p:nvSpPr>
          <p:cNvPr id="14" name="Shape 12"/>
          <p:cNvSpPr/>
          <p:nvPr/>
        </p:nvSpPr>
        <p:spPr>
          <a:xfrm>
            <a:off x="815925" y="4098686"/>
            <a:ext cx="10560123" cy="586728"/>
          </a:xfrm>
          <a:prstGeom prst="roundRect">
            <a:avLst>
              <a:gd name="adj" fmla="val 16775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045163" y="4353948"/>
            <a:ext cx="76142" cy="7614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324492" y="425172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defRPr sz="1800" b="1">
                <a:solidFill>
                  <a:srgbClr val="1E293B"/>
                </a:solidFill>
              </a:defRPr>
            </a:pPr>
            <a:r>
              <a:t>Demonstrate a real-time dark-mode web dashboard UI for complete forensic visibility.</a:t>
            </a:r>
          </a:p>
        </p:txBody>
      </p:sp>
      <p:sp>
        <p:nvSpPr>
          <p:cNvPr id="17" name="Text 15"/>
          <p:cNvSpPr/>
          <p:nvPr/>
        </p:nvSpPr>
        <p:spPr>
          <a:xfrm>
            <a:off x="812750" y="6238249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t>Linux Server Attack Residue &amp; Forensic Response System</a:t>
            </a:r>
          </a:p>
        </p:txBody>
      </p:sp>
      <p:sp>
        <p:nvSpPr>
          <p:cNvPr id="18" name="Text 16"/>
          <p:cNvSpPr/>
          <p:nvPr/>
        </p:nvSpPr>
        <p:spPr>
          <a:xfrm>
            <a:off x="9417124" y="6238249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18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07"/>
            <a:ext cx="253969" cy="25361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168283" y="812750"/>
            <a:ext cx="2503436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INTRODUCTION &amp;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68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  <a:defRPr sz="1600">
                <a:solidFill>
                  <a:srgbClr val="1E293B"/>
                </a:solidFill>
              </a:defRPr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Literature Survey </a:t>
            </a:r>
            <a:r>
              <a:rPr lang="en-US" sz="3600" b="1" spc="-50" kern="0" dirty="0">
                <a:solidFill>
                  <a:srgbClr val="0F76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</a:t>
            </a: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Existing Work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5925" y="2014764"/>
            <a:ext cx="3380329" cy="2158789"/>
          </a:xfrm>
          <a:prstGeom prst="roundRect">
            <a:avLst>
              <a:gd name="adj" fmla="val 5736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21365" y="2320203"/>
            <a:ext cx="2852532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  <a:defRPr sz="1600">
                <a:solidFill>
                  <a:srgbClr val="1E293B"/>
                </a:solidFill>
              </a:defRPr>
            </a:pPr>
            <a:r>
              <a:rPr lang="en-US" sz="12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21365" y="2685879"/>
            <a:ext cx="2852532" cy="609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Traditional File Integrity Monitoring (Tripwire / Samhain)</a:t>
            </a:r>
          </a:p>
        </p:txBody>
      </p:sp>
      <p:sp>
        <p:nvSpPr>
          <p:cNvPr id="8" name="Shape 6"/>
          <p:cNvSpPr/>
          <p:nvPr/>
        </p:nvSpPr>
        <p:spPr>
          <a:xfrm>
            <a:off x="1121365" y="3422489"/>
            <a:ext cx="304751" cy="19021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121365" y="3593852"/>
            <a:ext cx="2852532" cy="29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Generates high false positive volume without forensic kernel context.</a:t>
            </a:r>
          </a:p>
        </p:txBody>
      </p:sp>
      <p:sp>
        <p:nvSpPr>
          <p:cNvPr id="10" name="Shape 8"/>
          <p:cNvSpPr/>
          <p:nvPr/>
        </p:nvSpPr>
        <p:spPr>
          <a:xfrm>
            <a:off x="4405792" y="2014764"/>
            <a:ext cx="3380389" cy="2158789"/>
          </a:xfrm>
          <a:prstGeom prst="roundRect">
            <a:avLst>
              <a:gd name="adj" fmla="val 5736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711232" y="2320203"/>
            <a:ext cx="2852594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  <a:defRPr sz="1600">
                <a:solidFill>
                  <a:srgbClr val="1E293B"/>
                </a:solidFill>
              </a:defRPr>
            </a:pPr>
            <a:r>
              <a:rPr lang="en-US" sz="12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11232" y="2685879"/>
            <a:ext cx="2852594" cy="609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SIEM Log Collectors (Splunk / Elastic Agent)</a:t>
            </a:r>
          </a:p>
        </p:txBody>
      </p:sp>
      <p:sp>
        <p:nvSpPr>
          <p:cNvPr id="13" name="Shape 11"/>
          <p:cNvSpPr/>
          <p:nvPr/>
        </p:nvSpPr>
        <p:spPr>
          <a:xfrm>
            <a:off x="4711232" y="3422489"/>
            <a:ext cx="304751" cy="19021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711232" y="3593852"/>
            <a:ext cx="2852594" cy="29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High resource overhead, complex deployment, and lacks instant host containment.</a:t>
            </a:r>
          </a:p>
        </p:txBody>
      </p:sp>
      <p:sp>
        <p:nvSpPr>
          <p:cNvPr id="15" name="Shape 13"/>
          <p:cNvSpPr/>
          <p:nvPr/>
        </p:nvSpPr>
        <p:spPr>
          <a:xfrm>
            <a:off x="7995719" y="2014764"/>
            <a:ext cx="3380329" cy="2158789"/>
          </a:xfrm>
          <a:prstGeom prst="roundRect">
            <a:avLst>
              <a:gd name="adj" fmla="val 5736"/>
            </a:avLst>
          </a:prstGeom>
          <a:solidFill>
            <a:srgbClr val="0E1726"/>
          </a:solidFill>
          <a:ln w="6350">
            <a:solidFill>
              <a:srgbClr val="0E1726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301159" y="2320203"/>
            <a:ext cx="2852532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  <a:defRPr sz="2000" b="1">
                <a:solidFill>
                  <a:srgbClr val="2DD4BF"/>
                </a:solidFill>
              </a:defRPr>
            </a:pPr>
            <a:r>
              <a:rPr lang="en-US" sz="1200" dirty="0">
                <a:solidFill>
                  <a:srgbClr val="2DD4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01159" y="2685879"/>
            <a:ext cx="2852532" cy="317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Zero-dependency Python 3.14 Standard Library architecture.</a:t>
            </a:r>
          </a:p>
        </p:txBody>
      </p:sp>
      <p:sp>
        <p:nvSpPr>
          <p:cNvPr id="18" name="Shape 16"/>
          <p:cNvSpPr/>
          <p:nvPr/>
        </p:nvSpPr>
        <p:spPr>
          <a:xfrm>
            <a:off x="8301159" y="3130358"/>
            <a:ext cx="304751" cy="19021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301159" y="3301721"/>
            <a:ext cx="2852532" cy="29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defRPr sz="1500">
                <a:solidFill>
                  <a:srgbClr val="E0F2FE"/>
                </a:solidFill>
              </a:defRPr>
            </a:pPr>
            <a:r>
              <a:t>Instant automated containment with real-time web dashboard visualization.</a:t>
            </a:r>
          </a:p>
        </p:txBody>
      </p:sp>
      <p:sp>
        <p:nvSpPr>
          <p:cNvPr id="20" name="Text 18"/>
          <p:cNvSpPr/>
          <p:nvPr/>
        </p:nvSpPr>
        <p:spPr>
          <a:xfrm>
            <a:off x="812750" y="6238249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t>Linux Server Attack Residue &amp; Forensic Response System</a:t>
            </a:r>
          </a:p>
        </p:txBody>
      </p:sp>
      <p:sp>
        <p:nvSpPr>
          <p:cNvPr id="21" name="Text 19"/>
          <p:cNvSpPr/>
          <p:nvPr/>
        </p:nvSpPr>
        <p:spPr>
          <a:xfrm>
            <a:off x="9417124" y="6238249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18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04"/>
            <a:ext cx="253969" cy="25361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168283" y="812750"/>
            <a:ext cx="341370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PROPOSED SYSTEM &amp;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65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Proposed System </a:t>
            </a:r>
            <a:r>
              <a:rPr lang="en-US" sz="3600" b="1" spc="-50" kern="0" dirty="0">
                <a:solidFill>
                  <a:srgbClr val="0F76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</a:t>
            </a: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Methodology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5925" y="2014761"/>
            <a:ext cx="2216213" cy="1195022"/>
          </a:xfrm>
          <a:prstGeom prst="roundRect">
            <a:avLst>
              <a:gd name="adj" fmla="val 9299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  <p:txBody>
          <a:bodyPr/>
          <a:p/>
        </p:txBody>
      </p:sp>
      <p:pic>
        <p:nvPicPr>
          <p:cNvPr id="6" name="Image 0" descr="Warn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5163" y="2243999"/>
            <a:ext cx="304751" cy="3047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5163" y="2675734"/>
            <a:ext cx="1810470" cy="330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  <a:defRPr sz="2000" b="1">
                <a:solidFill>
                  <a:srgbClr val="1E293B"/>
                </a:solidFill>
              </a:defRPr>
            </a:pPr>
            <a:r>
              <a:rPr lang="en-US" sz="20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Attack</a:t>
            </a:r>
            <a:endParaRPr lang="en-US" sz="2000" dirty="0"/>
          </a:p>
        </p:txBody>
      </p:sp>
      <p:pic>
        <p:nvPicPr>
          <p:cNvPr id="8" name="Image 1" descr="arrow-right">    </p:cNvPr>
          <p:cNvPicPr>
            <a:picLocks noChangeAspect="1"/>
          </p:cNvPicPr>
          <p:nvPr/>
        </p:nvPicPr>
        <p:blipFill>
          <a:blip r:embed="rId2"/>
          <a:srcRect l="-1" r="-1" t="0" b="0"/>
          <a:stretch/>
        </p:blipFill>
        <p:spPr>
          <a:xfrm>
            <a:off x="3162297" y="2523387"/>
            <a:ext cx="304751" cy="17776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597208" y="2014761"/>
            <a:ext cx="2216273" cy="1195022"/>
          </a:xfrm>
          <a:prstGeom prst="roundRect">
            <a:avLst>
              <a:gd name="adj" fmla="val 9299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  <p:txBody>
          <a:bodyPr/>
          <a:p/>
        </p:txBody>
      </p:sp>
      <p:pic>
        <p:nvPicPr>
          <p:cNvPr id="10" name="Image 2" descr="Search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826446" y="2243999"/>
            <a:ext cx="304751" cy="30475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826446" y="2675734"/>
            <a:ext cx="1810532" cy="330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  <a:defRPr sz="2000" b="1">
                <a:solidFill>
                  <a:srgbClr val="1E293B"/>
                </a:solidFill>
              </a:defRPr>
            </a:pPr>
            <a:r>
              <a:rPr lang="en-US" sz="20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Evidence</a:t>
            </a:r>
            <a:endParaRPr lang="en-US" sz="2000" dirty="0"/>
          </a:p>
        </p:txBody>
      </p:sp>
      <p:pic>
        <p:nvPicPr>
          <p:cNvPr id="12" name="Image 3" descr="arrow-right">    </p:cNvPr>
          <p:cNvPicPr>
            <a:picLocks noChangeAspect="1"/>
          </p:cNvPicPr>
          <p:nvPr/>
        </p:nvPicPr>
        <p:blipFill>
          <a:blip r:embed="rId4"/>
          <a:srcRect l="-1" r="-1" t="0" b="0"/>
          <a:stretch/>
        </p:blipFill>
        <p:spPr>
          <a:xfrm>
            <a:off x="5943641" y="2523387"/>
            <a:ext cx="304751" cy="177766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378552" y="2014761"/>
            <a:ext cx="2216213" cy="1195022"/>
          </a:xfrm>
          <a:prstGeom prst="roundRect">
            <a:avLst>
              <a:gd name="adj" fmla="val 9299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  <p:txBody>
          <a:bodyPr/>
          <a:p/>
        </p:txBody>
      </p:sp>
      <p:pic>
        <p:nvPicPr>
          <p:cNvPr id="14" name="Image 4" descr="Activity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607789" y="2243999"/>
            <a:ext cx="304751" cy="30475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607789" y="2675734"/>
            <a:ext cx="1810470" cy="330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  <a:defRPr sz="2000" b="1">
                <a:solidFill>
                  <a:srgbClr val="1E293B"/>
                </a:solidFill>
              </a:defRPr>
            </a:pPr>
            <a:r>
              <a:rPr lang="en-US" sz="20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Detection</a:t>
            </a:r>
            <a:endParaRPr lang="en-US" sz="2000" dirty="0"/>
          </a:p>
        </p:txBody>
      </p:sp>
      <p:pic>
        <p:nvPicPr>
          <p:cNvPr id="16" name="Image 5" descr="arrow-right">    </p:cNvPr>
          <p:cNvPicPr>
            <a:picLocks noChangeAspect="1"/>
          </p:cNvPicPr>
          <p:nvPr/>
        </p:nvPicPr>
        <p:blipFill>
          <a:blip r:embed="rId6"/>
          <a:srcRect l="-1" r="-1" t="0" b="0"/>
          <a:stretch/>
        </p:blipFill>
        <p:spPr>
          <a:xfrm>
            <a:off x="8724924" y="2523387"/>
            <a:ext cx="304751" cy="177766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9159835" y="2014761"/>
            <a:ext cx="2216213" cy="1195022"/>
          </a:xfrm>
          <a:prstGeom prst="roundRect">
            <a:avLst>
              <a:gd name="adj" fmla="val 9299"/>
            </a:avLst>
          </a:prstGeom>
          <a:solidFill>
            <a:srgbClr val="0E1726"/>
          </a:solidFill>
          <a:ln w="6350">
            <a:solidFill>
              <a:srgbClr val="0E1726"/>
            </a:solidFill>
            <a:prstDash val="solid"/>
          </a:ln>
        </p:spPr>
        <p:txBody>
          <a:bodyPr/>
          <a:p/>
        </p:txBody>
      </p:sp>
      <p:pic>
        <p:nvPicPr>
          <p:cNvPr id="18" name="Image 6" descr="Verified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389073" y="2243999"/>
            <a:ext cx="304751" cy="304751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9389073" y="2675734"/>
            <a:ext cx="1810470" cy="330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  <a:defRPr sz="2000" b="1">
                <a:solidFill>
                  <a:srgbClr val="1E293B"/>
                </a:solidFill>
              </a:defRPr>
            </a:pPr>
            <a:r>
              <a:rPr lang="en-US" sz="2000" b="1" dirty="0">
                <a:solidFill>
                  <a:srgbClr val="F4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Response</a:t>
            </a:r>
            <a:endParaRPr lang="en-US" sz="2000" dirty="0"/>
          </a:p>
        </p:txBody>
      </p:sp>
      <p:sp>
        <p:nvSpPr>
          <p:cNvPr id="20" name="Text 11"/>
          <p:cNvSpPr/>
          <p:nvPr/>
        </p:nvSpPr>
        <p:spPr>
          <a:xfrm>
            <a:off x="812750" y="3568551"/>
            <a:ext cx="10566473" cy="687033"/>
          </a:xfrm>
          <a:prstGeom prst="roundRect">
            <a:avLst>
              <a:gd name="adj" fmla="val 14788"/>
            </a:avLst>
          </a:prstGeom>
          <a:solidFill>
            <a:srgbClr val="EAEFF3"/>
          </a:solidFill>
          <a:ln/>
        </p:spPr>
        <p:txBody>
          <a:bodyPr wrap="square" lIns="233623" tIns="173442" rIns="198842" bIns="148017" rtlCol="0" anchor="t">
            <a:norm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Combines SHA256 baseline manifests, Auditd syscall matching, and automated response into a single stdlib Python engine.</a:t>
            </a:r>
          </a:p>
        </p:txBody>
      </p:sp>
      <p:sp>
        <p:nvSpPr>
          <p:cNvPr id="21" name="Shape 12"/>
          <p:cNvSpPr/>
          <p:nvPr/>
        </p:nvSpPr>
        <p:spPr>
          <a:xfrm>
            <a:off x="812750" y="3568551"/>
            <a:ext cx="10566473" cy="687033"/>
          </a:xfrm>
          <a:custGeom>
            <a:avLst/>
            <a:gdLst/>
            <a:ahLst/>
            <a:cxnLst/>
            <a:rect l="l" t="t" r="r" b="b"/>
            <a:pathLst>
              <a:path w="10566473" h="687033">
                <a:moveTo>
                  <a:pt x="101600" y="687033"/>
                </a:moveTo>
                <a:lnTo>
                  <a:pt x="101600" y="687033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585433"/>
                </a:lnTo>
                <a:arcTo hR="101600" wR="63500" stAng="10800000" swAng="-5400000"/>
                <a:close/>
              </a:path>
            </a:pathLst>
          </a:custGeom>
          <a:solidFill>
            <a:srgbClr val="0F766E"/>
          </a:solidFill>
          <a:ln/>
        </p:spPr>
        <p:txBody>
          <a:bodyPr/>
          <a:p/>
        </p:txBody>
      </p:sp>
      <p:sp>
        <p:nvSpPr>
          <p:cNvPr id="22" name="Text 13"/>
          <p:cNvSpPr/>
          <p:nvPr/>
        </p:nvSpPr>
        <p:spPr>
          <a:xfrm>
            <a:off x="812750" y="6238246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t>Linux Server Attack Residue &amp; Forensic Response System</a:t>
            </a:r>
          </a:p>
        </p:txBody>
      </p:sp>
      <p:sp>
        <p:nvSpPr>
          <p:cNvPr id="23" name="Text 14"/>
          <p:cNvSpPr/>
          <p:nvPr/>
        </p:nvSpPr>
        <p:spPr>
          <a:xfrm>
            <a:off x="9417124" y="6238246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18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EF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04"/>
            <a:ext cx="253969" cy="25361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168283" y="812750"/>
            <a:ext cx="341370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PROPOSED SYSTEM &amp;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68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9100" y="2017936"/>
            <a:ext cx="5702272" cy="3416247"/>
          </a:xfrm>
          <a:prstGeom prst="roundRect">
            <a:avLst>
              <a:gd name="adj" fmla="val 3532"/>
            </a:avLst>
          </a:prstGeom>
          <a:solidFill>
            <a:srgbClr val="FBFCFD"/>
          </a:solidFill>
          <a:ln w="12700">
            <a:solidFill>
              <a:srgbClr val="9AA8B6"/>
            </a:solidFill>
            <a:prstDash val="dash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4343" y="2023179"/>
            <a:ext cx="5691785" cy="3405760"/>
          </a:xfrm>
          <a:prstGeom prst="roundRect">
            <a:avLst>
              <a:gd name="adj" fmla="val 3389"/>
            </a:avLst>
          </a:prstGeom>
          <a:gradFill rotWithShape="1">
            <a:gsLst>
              <a:gs pos="0">
                <a:srgbClr val="F1F4F7"/>
              </a:gs>
              <a:gs pos="8333">
                <a:srgbClr val="F1F4F7"/>
              </a:gs>
              <a:gs pos="8333">
                <a:srgbClr val="FBFCFD"/>
              </a:gs>
              <a:gs pos="100000">
                <a:srgbClr val="FBFCFD"/>
              </a:gs>
            </a:gsLst>
            <a:lin ang="18900000" scaled="0"/>
          </a:gradFill>
          <a:ln/>
        </p:spPr>
        <p:txBody>
          <a:bodyPr wrap="square" lIns="270999" tIns="270999" rIns="270999" bIns="270999" rtlCol="0" anchor="ctr">
            <a:normAutofit/>
          </a:bodyPr>
          <a:lstStyle/>
          <a:p>
            <a:pPr>
              <a:defRPr sz="1800" b="1">
                <a:solidFill>
                  <a:srgbClr val="1E293B"/>
                </a:solidFill>
              </a:defRPr>
            </a:pPr>
            <a:r>
              <a:t>System Architecture Overview: Target Host, Auditd Telemetry, Detector &amp; Web UI</a:t>
            </a:r>
          </a:p>
        </p:txBody>
      </p:sp>
      <p:sp>
        <p:nvSpPr>
          <p:cNvPr id="7" name="Shape 5"/>
          <p:cNvSpPr/>
          <p:nvPr/>
        </p:nvSpPr>
        <p:spPr>
          <a:xfrm>
            <a:off x="6784866" y="2014761"/>
            <a:ext cx="4591181" cy="871251"/>
          </a:xfrm>
          <a:prstGeom prst="roundRect">
            <a:avLst>
              <a:gd name="adj" fmla="val 11297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988743" y="2343690"/>
            <a:ext cx="507957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  <a:defRPr sz="1800" b="1">
                <a:solidFill>
                  <a:srgbClr val="1E293B"/>
                </a:solidFill>
              </a:defRPr>
            </a:pPr>
            <a:r>
              <a:rPr lang="en-US" sz="12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598246" y="2193218"/>
            <a:ext cx="3681143" cy="5397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defRPr sz="1800" b="1">
                <a:solidFill>
                  <a:srgbClr val="1E293B"/>
                </a:solidFill>
              </a:defRPr>
            </a:pPr>
            <a:r>
              <a:t>Attacker Workstation (Kali) ➔ Web Shell ➔ Target State Diff ➔ Auditd Correlator ➔ Containment ➔ Web Dashboard</a:t>
            </a:r>
          </a:p>
        </p:txBody>
      </p:sp>
      <p:sp>
        <p:nvSpPr>
          <p:cNvPr id="10" name="Text 8"/>
          <p:cNvSpPr/>
          <p:nvPr/>
        </p:nvSpPr>
        <p:spPr>
          <a:xfrm>
            <a:off x="812750" y="6238246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t>Linux Server Attack Residue &amp; Forensic Response System</a:t>
            </a:r>
          </a:p>
        </p:txBody>
      </p:sp>
      <p:sp>
        <p:nvSpPr>
          <p:cNvPr id="11" name="Text 9"/>
          <p:cNvSpPr/>
          <p:nvPr/>
        </p:nvSpPr>
        <p:spPr>
          <a:xfrm>
            <a:off x="9417124" y="6238246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18</a:t>
            </a:r>
            <a:endParaRPr lang="en-US" sz="1200" dirty="0"/>
          </a:p>
        </p:txBody>
      </p:sp>
      <p:pic>
        <p:nvPicPr>
          <p:cNvPr id="12" name="Picture 11" descr="srs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011680"/>
            <a:ext cx="5669280" cy="26038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EF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04"/>
            <a:ext cx="253969" cy="25361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168283" y="812750"/>
            <a:ext cx="1045120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 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65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Flow Diagram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9100" y="2017936"/>
            <a:ext cx="10553773" cy="3543292"/>
          </a:xfrm>
          <a:prstGeom prst="roundRect">
            <a:avLst>
              <a:gd name="adj" fmla="val 3405"/>
            </a:avLst>
          </a:prstGeom>
          <a:solidFill>
            <a:srgbClr val="FBFCFD"/>
          </a:solidFill>
          <a:ln w="12700">
            <a:solidFill>
              <a:srgbClr val="9AA8B6"/>
            </a:solidFill>
            <a:prstDash val="dash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4343" y="2023182"/>
            <a:ext cx="10543286" cy="3532805"/>
          </a:xfrm>
          <a:prstGeom prst="roundRect">
            <a:avLst>
              <a:gd name="adj" fmla="val 3267"/>
            </a:avLst>
          </a:prstGeom>
          <a:gradFill rotWithShape="1">
            <a:gsLst>
              <a:gs pos="0">
                <a:srgbClr val="F1F4F7"/>
              </a:gs>
              <a:gs pos="8333">
                <a:srgbClr val="F1F4F7"/>
              </a:gs>
              <a:gs pos="8333">
                <a:srgbClr val="FBFCFD"/>
              </a:gs>
              <a:gs pos="100000">
                <a:srgbClr val="FBFCFD"/>
              </a:gs>
            </a:gsLst>
            <a:lin ang="18900000" scaled="0"/>
          </a:gradFill>
          <a:ln/>
        </p:spPr>
        <p:txBody>
          <a:bodyPr wrap="square" lIns="270999" tIns="270999" rIns="270999" bIns="270999" rtlCol="0" anchor="ctr">
            <a:normAutofit/>
          </a:bodyPr>
          <a:lstStyle/>
          <a:p>
            <a:pPr>
              <a:defRPr sz="1800" b="1">
                <a:solidFill>
                  <a:srgbClr val="1E293B"/>
                </a:solidFill>
              </a:defRPr>
            </a:pPr>
            <a:r>
              <a:t>Data Flow Diagram (DFD Level 1): State Collection, Diffing, Auditd Correlation &amp; UI</a:t>
            </a:r>
          </a:p>
        </p:txBody>
      </p:sp>
      <p:sp>
        <p:nvSpPr>
          <p:cNvPr id="7" name="Text 5"/>
          <p:cNvSpPr/>
          <p:nvPr/>
        </p:nvSpPr>
        <p:spPr>
          <a:xfrm>
            <a:off x="812750" y="6238249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t>Linux Server Attack Residue &amp; Forensic Response System</a:t>
            </a:r>
          </a:p>
        </p:txBody>
      </p:sp>
      <p:sp>
        <p:nvSpPr>
          <p:cNvPr id="8" name="Text 6"/>
          <p:cNvSpPr/>
          <p:nvPr/>
        </p:nvSpPr>
        <p:spPr>
          <a:xfrm>
            <a:off x="9417124" y="6238249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18</a:t>
            </a:r>
            <a:endParaRPr lang="en-US" sz="1200" dirty="0"/>
          </a:p>
        </p:txBody>
      </p:sp>
      <p:pic>
        <p:nvPicPr>
          <p:cNvPr id="9" name="Picture 8" descr="srs_d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86000"/>
            <a:ext cx="10515600" cy="8959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04"/>
            <a:ext cx="253969" cy="25361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168283" y="812750"/>
            <a:ext cx="23896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IMPLEMENTATION &amp;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65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Modules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2750" y="2014761"/>
            <a:ext cx="10566473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12750" y="2200827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  <a:defRPr sz="1700">
                <a:solidFill>
                  <a:srgbClr val="1E293B"/>
                </a:solidFill>
              </a:defRPr>
            </a:pPr>
            <a:r>
              <a:rPr lang="en-US" sz="14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73094" y="2180537"/>
            <a:ext cx="3401021" cy="314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  <a:defRPr sz="1700">
                <a:solidFill>
                  <a:srgbClr val="1E293B"/>
                </a:solidFill>
              </a:defRPr>
            </a:pPr>
            <a:r>
              <a:rPr lang="en-US" sz="19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Attack simulator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12750" y="2638332"/>
            <a:ext cx="10566473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12750" y="2824398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  <a:defRPr sz="1700">
                <a:solidFill>
                  <a:srgbClr val="1E293B"/>
                </a:solidFill>
              </a:defRPr>
            </a:pPr>
            <a:r>
              <a:rPr lang="en-US" sz="14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73094" y="2804108"/>
            <a:ext cx="3401021" cy="314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  <a:defRPr sz="1700">
                <a:solidFill>
                  <a:srgbClr val="1E293B"/>
                </a:solidFill>
              </a:defRPr>
            </a:pPr>
            <a:r>
              <a:rPr lang="en-US" sz="19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Evidence collector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12750" y="3261903"/>
            <a:ext cx="10566473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12750" y="3447969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  <a:defRPr sz="1700">
                <a:solidFill>
                  <a:srgbClr val="1E293B"/>
                </a:solidFill>
              </a:defRPr>
            </a:pPr>
            <a:r>
              <a:rPr lang="en-US" sz="14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73094" y="3427679"/>
            <a:ext cx="3401021" cy="314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  <a:defRPr sz="1700">
                <a:solidFill>
                  <a:srgbClr val="1E293B"/>
                </a:solidFill>
              </a:defRPr>
            </a:pPr>
            <a:r>
              <a:rPr lang="en-US" sz="19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Detection engine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12750" y="3885474"/>
            <a:ext cx="10566473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12750" y="4071541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  <a:defRPr sz="1700">
                <a:solidFill>
                  <a:srgbClr val="1E293B"/>
                </a:solidFill>
              </a:defRPr>
            </a:pPr>
            <a:r>
              <a:rPr lang="en-US" sz="14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73094" y="4051250"/>
            <a:ext cx="3401021" cy="314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  <a:defRPr sz="1700">
                <a:solidFill>
                  <a:srgbClr val="1E293B"/>
                </a:solidFill>
              </a:defRPr>
            </a:pPr>
            <a:r>
              <a:rPr lang="en-US" sz="19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Responder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12750" y="4509046"/>
            <a:ext cx="10566473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12750" y="4695106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  <a:defRPr sz="1700">
                <a:solidFill>
                  <a:srgbClr val="1E293B"/>
                </a:solidFill>
              </a:defRPr>
            </a:pPr>
            <a:r>
              <a:rPr lang="en-US" sz="140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73094" y="4674822"/>
            <a:ext cx="3401021" cy="314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  <a:defRPr sz="1700">
                <a:solidFill>
                  <a:srgbClr val="1E293B"/>
                </a:solidFill>
              </a:defRPr>
            </a:pPr>
            <a:r>
              <a:rPr lang="en-US" sz="1900" b="1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Dashboard / UI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12750" y="6238249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t>Linux Server Attack Residue &amp; Forensic Response System</a:t>
            </a:r>
          </a:p>
        </p:txBody>
      </p:sp>
      <p:sp>
        <p:nvSpPr>
          <p:cNvPr id="21" name="Text 19"/>
          <p:cNvSpPr/>
          <p:nvPr/>
        </p:nvSpPr>
        <p:spPr>
          <a:xfrm>
            <a:off x="9417124" y="6238249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18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11"/>
            <a:ext cx="253969" cy="25361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168283" y="812750"/>
            <a:ext cx="23896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IMPLEMENTATION &amp;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71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5925" y="2014767"/>
            <a:ext cx="5188003" cy="1084522"/>
          </a:xfrm>
          <a:prstGeom prst="roundRect">
            <a:avLst>
              <a:gd name="adj" fmla="val 11417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70584" y="2269424"/>
            <a:ext cx="558781" cy="558781"/>
          </a:xfrm>
          <a:prstGeom prst="roundRect">
            <a:avLst>
              <a:gd name="adj" fmla="val 20455"/>
            </a:avLst>
          </a:prstGeom>
          <a:solidFill>
            <a:srgbClr val="DDF1EE"/>
          </a:solidFill>
          <a:ln/>
        </p:spPr>
        <p:txBody>
          <a:bodyPr/>
          <a:p/>
        </p:txBody>
      </p:sp>
      <p:pic>
        <p:nvPicPr>
          <p:cNvPr id="7" name="Image 0" descr="Glob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10249" y="2409087"/>
            <a:ext cx="279390" cy="279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32552" y="2269424"/>
            <a:ext cx="403421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  <a:defRPr sz="1700">
                <a:solidFill>
                  <a:srgbClr val="1E293B"/>
                </a:solidFill>
              </a:defRPr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FRONTEND: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832552" y="2558895"/>
            <a:ext cx="4034219" cy="311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HTML5, CSS3 Glassmorphism UI, Vanilla JavaScript</a:t>
            </a:r>
          </a:p>
        </p:txBody>
      </p:sp>
      <p:sp>
        <p:nvSpPr>
          <p:cNvPr id="10" name="Shape 7"/>
          <p:cNvSpPr/>
          <p:nvPr/>
        </p:nvSpPr>
        <p:spPr>
          <a:xfrm>
            <a:off x="6188044" y="2014767"/>
            <a:ext cx="5188003" cy="1084522"/>
          </a:xfrm>
          <a:prstGeom prst="roundRect">
            <a:avLst>
              <a:gd name="adj" fmla="val 11417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442703" y="2269424"/>
            <a:ext cx="558781" cy="558781"/>
          </a:xfrm>
          <a:prstGeom prst="roundRect">
            <a:avLst>
              <a:gd name="adj" fmla="val 20455"/>
            </a:avLst>
          </a:prstGeom>
          <a:solidFill>
            <a:srgbClr val="DDF1EE"/>
          </a:solidFill>
          <a:ln/>
        </p:spPr>
        <p:txBody>
          <a:bodyPr/>
          <a:p/>
        </p:txBody>
      </p:sp>
      <p:pic>
        <p:nvPicPr>
          <p:cNvPr id="12" name="Image 1" descr="Cod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2368" y="2409087"/>
            <a:ext cx="279390" cy="2793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04671" y="2269424"/>
            <a:ext cx="403421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  <a:defRPr sz="1700">
                <a:solidFill>
                  <a:srgbClr val="1E293B"/>
                </a:solidFill>
              </a:defRPr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BACKEND: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204671" y="2558895"/>
            <a:ext cx="4034219" cy="311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Python 3.14 Standard Library (zero external wheel dependencies)</a:t>
            </a:r>
          </a:p>
        </p:txBody>
      </p:sp>
      <p:sp>
        <p:nvSpPr>
          <p:cNvPr id="15" name="Shape 11"/>
          <p:cNvSpPr/>
          <p:nvPr/>
        </p:nvSpPr>
        <p:spPr>
          <a:xfrm>
            <a:off x="815925" y="3283403"/>
            <a:ext cx="5188003" cy="1370253"/>
          </a:xfrm>
          <a:prstGeom prst="roundRect">
            <a:avLst>
              <a:gd name="adj" fmla="val 9037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1070584" y="3538060"/>
            <a:ext cx="558781" cy="558781"/>
          </a:xfrm>
          <a:prstGeom prst="roundRect">
            <a:avLst>
              <a:gd name="adj" fmla="val 20455"/>
            </a:avLst>
          </a:prstGeom>
          <a:solidFill>
            <a:srgbClr val="DDF1EE"/>
          </a:solidFill>
          <a:ln/>
        </p:spPr>
        <p:txBody>
          <a:bodyPr/>
          <a:p/>
        </p:txBody>
      </p:sp>
      <p:pic>
        <p:nvPicPr>
          <p:cNvPr id="17" name="Image 2" descr="Databas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210249" y="3677729"/>
            <a:ext cx="279390" cy="27939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32552" y="3538060"/>
            <a:ext cx="403421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  <a:defRPr sz="1700">
                <a:solidFill>
                  <a:srgbClr val="1E293B"/>
                </a:solidFill>
              </a:defRPr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DATA: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832552" y="3827537"/>
            <a:ext cx="4034219" cy="311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JSON Baseline Manifests, /var/log/audit/audit.log, Nginx Access Log</a:t>
            </a:r>
          </a:p>
        </p:txBody>
      </p:sp>
      <p:sp>
        <p:nvSpPr>
          <p:cNvPr id="20" name="Shape 15"/>
          <p:cNvSpPr/>
          <p:nvPr/>
        </p:nvSpPr>
        <p:spPr>
          <a:xfrm>
            <a:off x="6188044" y="3283403"/>
            <a:ext cx="5188003" cy="1370253"/>
          </a:xfrm>
          <a:prstGeom prst="roundRect">
            <a:avLst>
              <a:gd name="adj" fmla="val 9037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6442703" y="3538060"/>
            <a:ext cx="558781" cy="558781"/>
          </a:xfrm>
          <a:prstGeom prst="roundRect">
            <a:avLst>
              <a:gd name="adj" fmla="val 20455"/>
            </a:avLst>
          </a:prstGeom>
          <a:solidFill>
            <a:srgbClr val="DDF1EE"/>
          </a:solidFill>
          <a:ln/>
        </p:spPr>
        <p:txBody>
          <a:bodyPr/>
          <a:p/>
        </p:txBody>
      </p:sp>
      <p:pic>
        <p:nvPicPr>
          <p:cNvPr id="22" name="Image 3" descr="Wrench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582368" y="3677729"/>
            <a:ext cx="279390" cy="27939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04671" y="3538060"/>
            <a:ext cx="403421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  <a:defRPr sz="1700">
                <a:solidFill>
                  <a:srgbClr val="1E293B"/>
                </a:solidFill>
              </a:defRPr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TOOLS: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7204671" y="3827537"/>
            <a:ext cx="4034219" cy="596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TOOLS: auditd, systemctl, curl, openssl, Hydra, sha256sum</a:t>
            </a:r>
          </a:p>
        </p:txBody>
      </p:sp>
      <p:sp>
        <p:nvSpPr>
          <p:cNvPr id="25" name="Text 19"/>
          <p:cNvSpPr/>
          <p:nvPr/>
        </p:nvSpPr>
        <p:spPr>
          <a:xfrm>
            <a:off x="812750" y="6238249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t>Linux Server Attack Residue &amp; Forensic Response System</a:t>
            </a:r>
          </a:p>
        </p:txBody>
      </p:sp>
      <p:sp>
        <p:nvSpPr>
          <p:cNvPr id="26" name="Text 20"/>
          <p:cNvSpPr/>
          <p:nvPr/>
        </p:nvSpPr>
        <p:spPr>
          <a:xfrm>
            <a:off x="9417124" y="6238249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18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EF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04"/>
            <a:ext cx="253969" cy="25361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168283" y="812750"/>
            <a:ext cx="23896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IMPLEMENTATION &amp;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65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Implementation </a:t>
            </a:r>
            <a:r>
              <a:rPr lang="en-US" sz="3600" b="1" spc="-50" kern="0" dirty="0">
                <a:solidFill>
                  <a:srgbClr val="0F76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</a:t>
            </a: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Screenshots (1)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9100" y="2017936"/>
            <a:ext cx="6718270" cy="3416247"/>
          </a:xfrm>
          <a:prstGeom prst="roundRect">
            <a:avLst>
              <a:gd name="adj" fmla="val 3532"/>
            </a:avLst>
          </a:prstGeom>
          <a:solidFill>
            <a:srgbClr val="FBFCFD"/>
          </a:solidFill>
          <a:ln w="12700">
            <a:solidFill>
              <a:srgbClr val="9AA8B6"/>
            </a:solidFill>
            <a:prstDash val="dash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4343" y="2023182"/>
            <a:ext cx="6707783" cy="355533"/>
          </a:xfrm>
          <a:custGeom>
            <a:avLst/>
            <a:gdLst/>
            <a:ahLst/>
            <a:cxnLst/>
            <a:rect l="l" t="t" r="r" b="b"/>
            <a:pathLst>
              <a:path w="6707783" h="355533">
                <a:moveTo>
                  <a:pt x="0" y="115407"/>
                </a:moveTo>
                <a:arcTo hR="115407" wR="115407" stAng="10800000" swAng="5400000"/>
                <a:lnTo>
                  <a:pt x="6592376" y="0"/>
                </a:lnTo>
                <a:arcTo hR="115407" wR="115407" stAng="16200000" swAng="5400000"/>
                <a:lnTo>
                  <a:pt x="6707783" y="355533"/>
                </a:lnTo>
                <a:lnTo>
                  <a:pt x="0" y="355533"/>
                </a:lnTo>
                <a:close/>
              </a:path>
            </a:pathLst>
          </a:custGeom>
          <a:solidFill>
            <a:srgbClr val="D6DEE5"/>
          </a:solidFill>
          <a:ln/>
        </p:spPr>
        <p:txBody>
          <a:bodyPr/>
          <a:p/>
        </p:txBody>
      </p:sp>
      <p:sp>
        <p:nvSpPr>
          <p:cNvPr id="10" name="Text 5"/>
          <p:cNvSpPr/>
          <p:nvPr/>
        </p:nvSpPr>
        <p:spPr>
          <a:xfrm>
            <a:off x="824343" y="2378714"/>
            <a:ext cx="6707783" cy="3050227"/>
          </a:xfrm>
          <a:custGeom>
            <a:avLst/>
            <a:gdLst/>
            <a:ahLst/>
            <a:cxnLst/>
            <a:rect l="l" t="t" r="r" b="b"/>
            <a:pathLst>
              <a:path w="6707783" h="3050227">
                <a:moveTo>
                  <a:pt x="6707783" y="2934821"/>
                </a:moveTo>
                <a:arcTo hR="115407" wR="115407" stAng="0" swAng="5400000"/>
                <a:lnTo>
                  <a:pt x="115407" y="3050227"/>
                </a:lnTo>
                <a:arcTo hR="115407" wR="115407" stAng="5400000" swAng="5400000"/>
                <a:lnTo>
                  <a:pt x="0" y="0"/>
                </a:lnTo>
                <a:lnTo>
                  <a:pt x="6707783" y="0"/>
                </a:lnTo>
                <a:close/>
              </a:path>
            </a:pathLst>
          </a:custGeom>
          <a:gradFill rotWithShape="1">
            <a:gsLst>
              <a:gs pos="0">
                <a:srgbClr val="F1F4F7"/>
              </a:gs>
              <a:gs pos="8333">
                <a:srgbClr val="F1F4F7"/>
              </a:gs>
              <a:gs pos="8333">
                <a:srgbClr val="FBFCFD"/>
              </a:gs>
              <a:gs pos="100000">
                <a:srgbClr val="FBFCFD"/>
              </a:gs>
            </a:gsLst>
            <a:lin ang="18900000" scaled="0"/>
          </a:gradFill>
          <a:ln/>
        </p:spPr>
        <p:txBody>
          <a:bodyPr wrap="square" lIns="304800" tIns="304800" rIns="304800" bIns="304800" rtlCol="0" anchor="ctr">
            <a:norm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Task 1 &amp; Task 2: Attack Simulation &amp; Positive Residue Detection</a:t>
            </a:r>
          </a:p>
        </p:txBody>
      </p:sp>
      <p:sp>
        <p:nvSpPr>
          <p:cNvPr id="11" name="Shape 6"/>
          <p:cNvSpPr/>
          <p:nvPr/>
        </p:nvSpPr>
        <p:spPr>
          <a:xfrm>
            <a:off x="7899313" y="2024286"/>
            <a:ext cx="347991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  <p:txBody>
          <a:bodyPr/>
          <a:p/>
        </p:txBody>
      </p:sp>
      <p:sp>
        <p:nvSpPr>
          <p:cNvPr id="12" name="Shape 7"/>
          <p:cNvSpPr/>
          <p:nvPr/>
        </p:nvSpPr>
        <p:spPr>
          <a:xfrm>
            <a:off x="7899313" y="2339560"/>
            <a:ext cx="88883" cy="88883"/>
          </a:xfrm>
          <a:prstGeom prst="roundRect">
            <a:avLst>
              <a:gd name="adj" fmla="val 21433"/>
            </a:avLst>
          </a:prstGeom>
          <a:solidFill>
            <a:srgbClr val="0F766E"/>
          </a:solidFill>
          <a:ln/>
        </p:spPr>
        <p:txBody>
          <a:bodyPr/>
          <a:p/>
        </p:txBody>
      </p:sp>
      <p:sp>
        <p:nvSpPr>
          <p:cNvPr id="13" name="Text 8"/>
          <p:cNvSpPr/>
          <p:nvPr/>
        </p:nvSpPr>
        <p:spPr>
          <a:xfrm>
            <a:off x="8115181" y="2237960"/>
            <a:ext cx="3361964" cy="652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• Task 1: Controlled compromise script executes web shell placement and systemd service creation.</a:t>
            </a:r>
          </a:p>
          <a:p>
            <a:pPr>
              <a:defRPr sz="1700">
                <a:solidFill>
                  <a:srgbClr val="1E293B"/>
                </a:solidFill>
              </a:defRPr>
            </a:pPr>
            <a:r>
              <a:t>• Task 2: Residue detector scans target host state and flags 4 residual artifacts with 100% precision.</a:t>
            </a:r>
          </a:p>
        </p:txBody>
      </p:sp>
      <p:sp>
        <p:nvSpPr>
          <p:cNvPr id="14" name="Text 9"/>
          <p:cNvSpPr/>
          <p:nvPr/>
        </p:nvSpPr>
        <p:spPr>
          <a:xfrm>
            <a:off x="812750" y="6238249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t>Linux Server Attack Residue &amp; Forensic Response System</a:t>
            </a:r>
          </a:p>
        </p:txBody>
      </p:sp>
      <p:sp>
        <p:nvSpPr>
          <p:cNvPr id="15" name="Text 10"/>
          <p:cNvSpPr/>
          <p:nvPr/>
        </p:nvSpPr>
        <p:spPr>
          <a:xfrm>
            <a:off x="9417124" y="6238249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/ 18</a:t>
            </a:r>
            <a:endParaRPr lang="en-US" sz="1200" dirty="0"/>
          </a:p>
        </p:txBody>
      </p:sp>
      <p:pic>
        <p:nvPicPr>
          <p:cNvPr id="16" name="Picture 15" descr="action1_positive_te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2286000"/>
            <a:ext cx="6720840" cy="1134141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EF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04"/>
            <a:ext cx="253969" cy="25361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168283" y="812750"/>
            <a:ext cx="23896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IMPLEMENTATION &amp;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65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Implementation </a:t>
            </a:r>
            <a:r>
              <a:rPr lang="en-US" sz="3600" b="1" spc="-50" kern="0" dirty="0">
                <a:solidFill>
                  <a:srgbClr val="0F76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</a:t>
            </a: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Screenshots (2)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9100" y="2017936"/>
            <a:ext cx="6718270" cy="3416247"/>
          </a:xfrm>
          <a:prstGeom prst="roundRect">
            <a:avLst>
              <a:gd name="adj" fmla="val 3532"/>
            </a:avLst>
          </a:prstGeom>
          <a:solidFill>
            <a:srgbClr val="FBFCFD"/>
          </a:solidFill>
          <a:ln w="12700">
            <a:solidFill>
              <a:srgbClr val="9AA8B6"/>
            </a:solidFill>
            <a:prstDash val="dash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4343" y="2023176"/>
            <a:ext cx="6707783" cy="355533"/>
          </a:xfrm>
          <a:custGeom>
            <a:avLst/>
            <a:gdLst/>
            <a:ahLst/>
            <a:cxnLst/>
            <a:rect l="l" t="t" r="r" b="b"/>
            <a:pathLst>
              <a:path w="6707783" h="355533">
                <a:moveTo>
                  <a:pt x="0" y="115407"/>
                </a:moveTo>
                <a:arcTo hR="115407" wR="115407" stAng="10800000" swAng="5400000"/>
                <a:lnTo>
                  <a:pt x="6592376" y="0"/>
                </a:lnTo>
                <a:arcTo hR="115407" wR="115407" stAng="16200000" swAng="5400000"/>
                <a:lnTo>
                  <a:pt x="6707783" y="355533"/>
                </a:lnTo>
                <a:lnTo>
                  <a:pt x="0" y="355533"/>
                </a:lnTo>
                <a:close/>
              </a:path>
            </a:pathLst>
          </a:custGeom>
          <a:solidFill>
            <a:srgbClr val="D6DEE5"/>
          </a:solidFill>
          <a:ln/>
        </p:spPr>
        <p:txBody>
          <a:bodyPr/>
          <a:p/>
        </p:txBody>
      </p:sp>
      <p:sp>
        <p:nvSpPr>
          <p:cNvPr id="10" name="Text 5"/>
          <p:cNvSpPr/>
          <p:nvPr/>
        </p:nvSpPr>
        <p:spPr>
          <a:xfrm>
            <a:off x="824343" y="2378714"/>
            <a:ext cx="6707783" cy="3050227"/>
          </a:xfrm>
          <a:custGeom>
            <a:avLst/>
            <a:gdLst/>
            <a:ahLst/>
            <a:cxnLst/>
            <a:rect l="l" t="t" r="r" b="b"/>
            <a:pathLst>
              <a:path w="6707783" h="3050227">
                <a:moveTo>
                  <a:pt x="6707783" y="2934821"/>
                </a:moveTo>
                <a:arcTo hR="115407" wR="115407" stAng="0" swAng="5400000"/>
                <a:lnTo>
                  <a:pt x="115407" y="3050227"/>
                </a:lnTo>
                <a:arcTo hR="115407" wR="115407" stAng="5400000" swAng="5400000"/>
                <a:lnTo>
                  <a:pt x="0" y="0"/>
                </a:lnTo>
                <a:lnTo>
                  <a:pt x="6707783" y="0"/>
                </a:lnTo>
                <a:close/>
              </a:path>
            </a:pathLst>
          </a:custGeom>
          <a:gradFill rotWithShape="1">
            <a:gsLst>
              <a:gs pos="0">
                <a:srgbClr val="F1F4F7"/>
              </a:gs>
              <a:gs pos="8333">
                <a:srgbClr val="F1F4F7"/>
              </a:gs>
              <a:gs pos="8333">
                <a:srgbClr val="FBFCFD"/>
              </a:gs>
              <a:gs pos="100000">
                <a:srgbClr val="FBFCFD"/>
              </a:gs>
            </a:gsLst>
            <a:lin ang="18900000" scaled="0"/>
          </a:gradFill>
          <a:ln/>
        </p:spPr>
        <p:txBody>
          <a:bodyPr wrap="square" lIns="304800" tIns="304800" rIns="304800" bIns="304800" rtlCol="0" anchor="ctr">
            <a:norm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Task 3 &amp; Task 4: Web Dashboard &amp; Automated Containment Engine</a:t>
            </a:r>
          </a:p>
        </p:txBody>
      </p:sp>
      <p:sp>
        <p:nvSpPr>
          <p:cNvPr id="11" name="Shape 6"/>
          <p:cNvSpPr/>
          <p:nvPr/>
        </p:nvSpPr>
        <p:spPr>
          <a:xfrm>
            <a:off x="7899313" y="2024286"/>
            <a:ext cx="347991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  <p:txBody>
          <a:bodyPr/>
          <a:p/>
        </p:txBody>
      </p:sp>
      <p:sp>
        <p:nvSpPr>
          <p:cNvPr id="12" name="Shape 7"/>
          <p:cNvSpPr/>
          <p:nvPr/>
        </p:nvSpPr>
        <p:spPr>
          <a:xfrm>
            <a:off x="7899313" y="2339560"/>
            <a:ext cx="88883" cy="88883"/>
          </a:xfrm>
          <a:prstGeom prst="roundRect">
            <a:avLst>
              <a:gd name="adj" fmla="val 21433"/>
            </a:avLst>
          </a:prstGeom>
          <a:solidFill>
            <a:srgbClr val="0F766E"/>
          </a:solidFill>
          <a:ln/>
        </p:spPr>
        <p:txBody>
          <a:bodyPr/>
          <a:p/>
        </p:txBody>
      </p:sp>
      <p:sp>
        <p:nvSpPr>
          <p:cNvPr id="13" name="Text 8"/>
          <p:cNvSpPr/>
          <p:nvPr/>
        </p:nvSpPr>
        <p:spPr>
          <a:xfrm>
            <a:off x="8115181" y="2237960"/>
            <a:ext cx="3361964" cy="339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• Task 3: Real-time dark-mode web dashboard displays incident state, telemetry, and forensic log timelines.</a:t>
            </a:r>
          </a:p>
          <a:p>
            <a:pPr>
              <a:defRPr sz="1700">
                <a:solidFill>
                  <a:srgbClr val="1E293B"/>
                </a:solidFill>
              </a:defRPr>
            </a:pPr>
            <a:r>
              <a:t>• Task 4: Automated containment engine kills processes, disables services, and verifies remediation.</a:t>
            </a:r>
          </a:p>
        </p:txBody>
      </p:sp>
      <p:sp>
        <p:nvSpPr>
          <p:cNvPr id="14" name="Text 9"/>
          <p:cNvSpPr/>
          <p:nvPr/>
        </p:nvSpPr>
        <p:spPr>
          <a:xfrm>
            <a:off x="812750" y="6238249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t>Linux Server Attack Residue &amp; Forensic Response System</a:t>
            </a:r>
          </a:p>
        </p:txBody>
      </p:sp>
      <p:sp>
        <p:nvSpPr>
          <p:cNvPr id="15" name="Text 10"/>
          <p:cNvSpPr/>
          <p:nvPr/>
        </p:nvSpPr>
        <p:spPr>
          <a:xfrm>
            <a:off x="9417124" y="6238249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/ 18</a:t>
            </a:r>
            <a:endParaRPr lang="en-US" sz="1200" dirty="0"/>
          </a:p>
        </p:txBody>
      </p:sp>
      <p:pic>
        <p:nvPicPr>
          <p:cNvPr id="16" name="Picture 15" descr="task3_web_dash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2286000"/>
            <a:ext cx="6720840" cy="37804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11"/>
            <a:ext cx="253969" cy="25361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168283" y="812750"/>
            <a:ext cx="824180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RESULTS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71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Testing </a:t>
            </a:r>
            <a:r>
              <a:rPr lang="en-US" sz="3600" b="1" spc="-50" kern="0" dirty="0">
                <a:solidFill>
                  <a:srgbClr val="0F76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</a:t>
            </a: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Results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5925" y="2014761"/>
            <a:ext cx="10560123" cy="689560"/>
          </a:xfrm>
          <a:prstGeom prst="roundRect">
            <a:avLst>
              <a:gd name="adj" fmla="val 14274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45163" y="2219182"/>
            <a:ext cx="9172632" cy="306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Positive Compromise Test (Planted Service &amp; Shell): DETECTED &amp; CONTAINED</a:t>
            </a:r>
          </a:p>
        </p:txBody>
      </p:sp>
      <p:sp>
        <p:nvSpPr>
          <p:cNvPr id="7" name="Shape 5"/>
          <p:cNvSpPr/>
          <p:nvPr/>
        </p:nvSpPr>
        <p:spPr>
          <a:xfrm>
            <a:off x="10153818" y="2180537"/>
            <a:ext cx="992992" cy="358008"/>
          </a:xfrm>
          <a:prstGeom prst="roundRect">
            <a:avLst>
              <a:gd name="adj" fmla="val 50000"/>
            </a:avLst>
          </a:prstGeom>
          <a:solidFill>
            <a:srgbClr val="D5F0EC"/>
          </a:solidFill>
          <a:ln/>
        </p:spPr>
        <p:txBody>
          <a:bodyPr/>
          <a:p/>
        </p:txBody>
      </p:sp>
      <p:pic>
        <p:nvPicPr>
          <p:cNvPr id="8" name="Image 0" descr="CheckCircl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93483" y="2264290"/>
            <a:ext cx="190447" cy="1904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60072" y="2243999"/>
            <a:ext cx="497873" cy="25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  <a:defRPr sz="1600" b="1">
                <a:solidFill>
                  <a:srgbClr val="044E46"/>
                </a:solidFill>
              </a:defRPr>
            </a:pPr>
            <a:r>
              <a:rPr lang="en-US" sz="1300" b="1" spc="100" kern="0" dirty="0">
                <a:solidFill>
                  <a:srgbClr val="0D4F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15925" y="2812238"/>
            <a:ext cx="10560123" cy="689560"/>
          </a:xfrm>
          <a:prstGeom prst="roundRect">
            <a:avLst>
              <a:gd name="adj" fmla="val 14274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045163" y="3016659"/>
            <a:ext cx="9172632" cy="306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defRPr sz="1700">
                <a:solidFill>
                  <a:srgbClr val="1E293B"/>
                </a:solidFill>
              </a:defRPr>
            </a:pPr>
            <a:r>
              <a:t>Negative Control Test (Authorized Admin Activity): 0 FALSE POSITIVES</a:t>
            </a:r>
          </a:p>
        </p:txBody>
      </p:sp>
      <p:sp>
        <p:nvSpPr>
          <p:cNvPr id="12" name="Shape 9"/>
          <p:cNvSpPr/>
          <p:nvPr/>
        </p:nvSpPr>
        <p:spPr>
          <a:xfrm>
            <a:off x="10153818" y="2978014"/>
            <a:ext cx="992992" cy="358008"/>
          </a:xfrm>
          <a:prstGeom prst="roundRect">
            <a:avLst>
              <a:gd name="adj" fmla="val 50000"/>
            </a:avLst>
          </a:prstGeom>
          <a:solidFill>
            <a:srgbClr val="D5F0EC"/>
          </a:solidFill>
          <a:ln/>
        </p:spPr>
        <p:txBody>
          <a:bodyPr/>
          <a:p/>
        </p:txBody>
      </p:sp>
      <p:pic>
        <p:nvPicPr>
          <p:cNvPr id="13" name="Image 1" descr="CheckCircl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293483" y="3061760"/>
            <a:ext cx="190447" cy="1904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560072" y="3041476"/>
            <a:ext cx="497873" cy="25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  <a:defRPr sz="1600" b="1">
                <a:solidFill>
                  <a:srgbClr val="044E46"/>
                </a:solidFill>
              </a:defRPr>
            </a:pPr>
            <a:r>
              <a:rPr lang="en-US" sz="1300" b="1" spc="100" kern="0" dirty="0">
                <a:solidFill>
                  <a:srgbClr val="0D4F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12750" y="3606533"/>
            <a:ext cx="10566473" cy="848194"/>
          </a:xfrm>
          <a:prstGeom prst="roundRect">
            <a:avLst>
              <a:gd name="adj" fmla="val 11978"/>
            </a:avLst>
          </a:prstGeom>
          <a:solidFill>
            <a:srgbClr val="0E1726"/>
          </a:solidFill>
          <a:ln/>
        </p:spPr>
        <p:txBody>
          <a:bodyPr/>
          <a:p/>
        </p:txBody>
      </p:sp>
      <p:pic>
        <p:nvPicPr>
          <p:cNvPr id="16" name="Image 2" descr="Char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66719" y="3878256"/>
            <a:ext cx="304751" cy="3047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822191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defRPr sz="1400" b="1">
                <a:solidFill>
                  <a:srgbClr val="E0F2FE"/>
                </a:solidFill>
              </a:defRPr>
            </a:pPr>
            <a:r>
              <a:t>DETECTION LATENCY</a:t>
            </a:r>
          </a:p>
        </p:txBody>
      </p:sp>
      <p:sp>
        <p:nvSpPr>
          <p:cNvPr id="18" name="Text 13"/>
          <p:cNvSpPr/>
          <p:nvPr/>
        </p:nvSpPr>
        <p:spPr>
          <a:xfrm>
            <a:off x="3749039" y="3822191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Sub-Second Latency (&lt; 0.45s Detection | &lt; 0.80s Containment) | 0 False Positives</a:t>
            </a:r>
          </a:p>
        </p:txBody>
      </p:sp>
      <p:sp>
        <p:nvSpPr>
          <p:cNvPr id="19" name="Text 14"/>
          <p:cNvSpPr/>
          <p:nvPr/>
        </p:nvSpPr>
        <p:spPr>
          <a:xfrm>
            <a:off x="812750" y="6238249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t>Linux Server Attack Residue &amp; Forensic Response System</a:t>
            </a:r>
          </a:p>
        </p:txBody>
      </p:sp>
      <p:sp>
        <p:nvSpPr>
          <p:cNvPr id="20" name="Text 15"/>
          <p:cNvSpPr/>
          <p:nvPr/>
        </p:nvSpPr>
        <p:spPr>
          <a:xfrm>
            <a:off x="9417124" y="6238249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 / 18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04"/>
            <a:ext cx="253969" cy="25361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168283" y="812750"/>
            <a:ext cx="2844757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CONCLUSION &amp; FUTURE SCOPE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65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2750" y="3707674"/>
            <a:ext cx="50782" cy="438136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17501" y="3707674"/>
            <a:ext cx="9496850" cy="463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• Successfully built a lightweight, zero-dependency Linux Attack Residue Detection &amp; Response System.</a:t>
            </a:r>
          </a:p>
          <a:p>
            <a:pPr>
              <a:defRPr sz="2000" b="1">
                <a:solidFill>
                  <a:srgbClr val="1E293B"/>
                </a:solidFill>
              </a:defRPr>
            </a:pPr>
            <a:r>
              <a:t>• Proved sub-second detection (&lt;0.45s) and automated containment with zero false positives during live dry runs.</a:t>
            </a:r>
          </a:p>
        </p:txBody>
      </p:sp>
      <p:sp>
        <p:nvSpPr>
          <p:cNvPr id="7" name="Text 5"/>
          <p:cNvSpPr/>
          <p:nvPr/>
        </p:nvSpPr>
        <p:spPr>
          <a:xfrm>
            <a:off x="812750" y="6238249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t>Linux Server Attack Residue &amp; Forensic Response System</a:t>
            </a:r>
          </a:p>
        </p:txBody>
      </p:sp>
      <p:sp>
        <p:nvSpPr>
          <p:cNvPr id="8" name="Text 6"/>
          <p:cNvSpPr/>
          <p:nvPr/>
        </p:nvSpPr>
        <p:spPr>
          <a:xfrm>
            <a:off x="9417124" y="6238249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/ 18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04"/>
            <a:ext cx="253969" cy="25361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168283" y="812750"/>
            <a:ext cx="2844757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CONCLUSION &amp; FUTURE SCOPE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65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Future Scope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5925" y="2014761"/>
            <a:ext cx="3397297" cy="1804645"/>
          </a:xfrm>
          <a:prstGeom prst="roundRect">
            <a:avLst>
              <a:gd name="adj" fmla="val 6861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  <p:txBody>
          <a:bodyPr/>
          <a:p/>
        </p:txBody>
      </p:sp>
      <p:pic>
        <p:nvPicPr>
          <p:cNvPr id="6" name="Image 0" descr="Lightn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21365" y="2320206"/>
            <a:ext cx="355593" cy="3555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724882" y="2391333"/>
            <a:ext cx="2336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  <a:defRPr sz="1800" b="1">
                <a:solidFill>
                  <a:srgbClr val="1E293B"/>
                </a:solidFill>
              </a:defRPr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21365" y="2878981"/>
            <a:ext cx="2870008" cy="342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defRPr sz="1800" b="1">
                <a:solidFill>
                  <a:srgbClr val="1E293B"/>
                </a:solidFill>
              </a:defRPr>
            </a:pPr>
            <a:r>
              <a:t>Integration with eBPF kernel probes for real-time process blocking.</a:t>
            </a:r>
          </a:p>
        </p:txBody>
      </p:sp>
      <p:sp>
        <p:nvSpPr>
          <p:cNvPr id="9" name="Shape 6"/>
          <p:cNvSpPr/>
          <p:nvPr/>
        </p:nvSpPr>
        <p:spPr>
          <a:xfrm>
            <a:off x="4397338" y="2014761"/>
            <a:ext cx="3397297" cy="1804645"/>
          </a:xfrm>
          <a:prstGeom prst="roundRect">
            <a:avLst>
              <a:gd name="adj" fmla="val 6861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Setting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02778" y="2320206"/>
            <a:ext cx="355593" cy="3555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06295" y="2391333"/>
            <a:ext cx="2336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  <a:defRPr sz="1800" b="1">
                <a:solidFill>
                  <a:srgbClr val="1E293B"/>
                </a:solidFill>
              </a:defRPr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702778" y="2878981"/>
            <a:ext cx="2870008" cy="342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defRPr sz="1800" b="1">
                <a:solidFill>
                  <a:srgbClr val="1E293B"/>
                </a:solidFill>
              </a:defRPr>
            </a:pPr>
            <a:r>
              <a:t>Expansion to containerized environments (Docker / Kubernetes residue).</a:t>
            </a:r>
          </a:p>
        </p:txBody>
      </p:sp>
      <p:sp>
        <p:nvSpPr>
          <p:cNvPr id="13" name="Shape 9"/>
          <p:cNvSpPr/>
          <p:nvPr/>
        </p:nvSpPr>
        <p:spPr>
          <a:xfrm>
            <a:off x="7978751" y="2014761"/>
            <a:ext cx="3397297" cy="1804645"/>
          </a:xfrm>
          <a:prstGeom prst="roundRect">
            <a:avLst>
              <a:gd name="adj" fmla="val 6861"/>
            </a:avLst>
          </a:prstGeom>
          <a:solidFill>
            <a:srgbClr val="FBFCFD"/>
          </a:solidFill>
          <a:ln w="6350">
            <a:solidFill>
              <a:srgbClr val="D6DEE5"/>
            </a:solidFill>
            <a:prstDash val="solid"/>
          </a:ln>
        </p:spPr>
        <p:txBody>
          <a:bodyPr/>
          <a:p/>
        </p:txBody>
      </p:sp>
      <p:pic>
        <p:nvPicPr>
          <p:cNvPr id="14" name="Image 2" descr="Lightbulb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84191" y="2320206"/>
            <a:ext cx="355593" cy="35559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887708" y="2391333"/>
            <a:ext cx="2336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  <a:defRPr sz="1800" b="1">
                <a:solidFill>
                  <a:srgbClr val="1E293B"/>
                </a:solidFill>
              </a:defRPr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8284191" y="2878981"/>
            <a:ext cx="2870008" cy="660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defRPr sz="1800" b="1">
                <a:solidFill>
                  <a:srgbClr val="1E293B"/>
                </a:solidFill>
              </a:defRPr>
            </a:pPr>
            <a:r>
              <a:t>Machine Learning anomaly detection models for user behavior telemetry.</a:t>
            </a:r>
          </a:p>
        </p:txBody>
      </p:sp>
      <p:sp>
        <p:nvSpPr>
          <p:cNvPr id="17" name="Text 12"/>
          <p:cNvSpPr/>
          <p:nvPr/>
        </p:nvSpPr>
        <p:spPr>
          <a:xfrm>
            <a:off x="812750" y="6238242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t>Linux Server Attack Residue &amp; Forensic Response System</a:t>
            </a:r>
          </a:p>
        </p:txBody>
      </p:sp>
      <p:sp>
        <p:nvSpPr>
          <p:cNvPr id="18" name="Text 13"/>
          <p:cNvSpPr/>
          <p:nvPr/>
        </p:nvSpPr>
        <p:spPr>
          <a:xfrm>
            <a:off x="9417124" y="6238242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 / 18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50" y="906711"/>
            <a:ext cx="253969" cy="25361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168283" y="812750"/>
            <a:ext cx="1155560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50" y="1153071"/>
            <a:ext cx="10883467" cy="52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  <a:defRPr sz="1600">
                <a:solidFill>
                  <a:srgbClr val="1E293B"/>
                </a:solidFill>
              </a:defRPr>
            </a:pPr>
            <a:r>
              <a:rPr lang="en-US" sz="3600" b="1" spc="-50" kern="0" dirty="0">
                <a:solidFill>
                  <a:srgbClr val="0E17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References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2750" y="2014761"/>
            <a:ext cx="10566473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12750" y="2193218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[1]</a:t>
            </a:r>
          </a:p>
        </p:txBody>
      </p:sp>
      <p:sp>
        <p:nvSpPr>
          <p:cNvPr id="7" name="Text 5"/>
          <p:cNvSpPr/>
          <p:nvPr/>
        </p:nvSpPr>
        <p:spPr>
          <a:xfrm>
            <a:off x="1473094" y="2193218"/>
            <a:ext cx="10203313" cy="309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NIST SP 800-86: Guide to Integrating Forensic Techniques into Incident Response.</a:t>
            </a:r>
          </a:p>
        </p:txBody>
      </p:sp>
      <p:sp>
        <p:nvSpPr>
          <p:cNvPr id="8" name="Shape 6"/>
          <p:cNvSpPr/>
          <p:nvPr/>
        </p:nvSpPr>
        <p:spPr>
          <a:xfrm>
            <a:off x="812750" y="2658628"/>
            <a:ext cx="10566473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12750" y="2837073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[2]</a:t>
            </a:r>
          </a:p>
        </p:txBody>
      </p:sp>
      <p:sp>
        <p:nvSpPr>
          <p:cNvPr id="10" name="Text 8"/>
          <p:cNvSpPr/>
          <p:nvPr/>
        </p:nvSpPr>
        <p:spPr>
          <a:xfrm>
            <a:off x="1473094" y="2837073"/>
            <a:ext cx="10203313" cy="309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Linux Audit Subsystem Documentation &amp; Auditd Framework Architecture.</a:t>
            </a:r>
          </a:p>
        </p:txBody>
      </p:sp>
      <p:sp>
        <p:nvSpPr>
          <p:cNvPr id="11" name="Shape 9"/>
          <p:cNvSpPr/>
          <p:nvPr/>
        </p:nvSpPr>
        <p:spPr>
          <a:xfrm>
            <a:off x="812750" y="3302484"/>
            <a:ext cx="10566473" cy="0"/>
          </a:xfrm>
          <a:prstGeom prst="line">
            <a:avLst/>
          </a:prstGeom>
          <a:noFill/>
          <a:ln w="6350">
            <a:solidFill>
              <a:srgbClr val="D6DEE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12750" y="3480941"/>
            <a:ext cx="507957" cy="274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[3]</a:t>
            </a:r>
          </a:p>
        </p:txBody>
      </p:sp>
      <p:sp>
        <p:nvSpPr>
          <p:cNvPr id="13" name="Text 11"/>
          <p:cNvSpPr/>
          <p:nvPr/>
        </p:nvSpPr>
        <p:spPr>
          <a:xfrm>
            <a:off x="1473094" y="3480941"/>
            <a:ext cx="10203313" cy="309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t>MITRE ATT&amp;CK Framework: Persistence (T1543.002) and Web Shells (T1505.003).</a:t>
            </a:r>
          </a:p>
        </p:txBody>
      </p:sp>
      <p:sp>
        <p:nvSpPr>
          <p:cNvPr id="14" name="Text 12"/>
          <p:cNvSpPr/>
          <p:nvPr/>
        </p:nvSpPr>
        <p:spPr>
          <a:xfrm>
            <a:off x="812750" y="6238255"/>
            <a:ext cx="5886421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t>Linux Server Attack Residue &amp; Forensic Response System</a:t>
            </a:r>
          </a:p>
        </p:txBody>
      </p:sp>
      <p:sp>
        <p:nvSpPr>
          <p:cNvPr id="15" name="Text 13"/>
          <p:cNvSpPr/>
          <p:nvPr/>
        </p:nvSpPr>
        <p:spPr>
          <a:xfrm>
            <a:off x="9417124" y="6238255"/>
            <a:ext cx="1962099" cy="238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7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 / 18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40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3" cy="6857954"/>
          </a:xfrm>
          <a:prstGeom prst="rect">
            <a:avLst/>
          </a:prstGeom>
          <a:gradFill rotWithShape="1">
            <a:gsLst>
              <a:gs pos="0">
                <a:srgbClr val="12403F"/>
              </a:gs>
              <a:gs pos="55000">
                <a:srgbClr val="0B1220"/>
              </a:gs>
            </a:gsLst>
            <a:path path="circle">
              <a:fillToRect l="82000" t="50000" r="18000" b="50000"/>
            </a:path>
          </a:gra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973" cy="6857954"/>
          </a:xfrm>
          <a:prstGeom prst="rect">
            <a:avLst/>
          </a:prstGeom>
          <a:gradFill rotWithShape="1">
            <a:gsLst>
              <a:gs pos="0">
                <a:srgbClr val="2DD4BF">
                  <a:alpha val="6000"/>
                </a:srgbClr>
              </a:gs>
              <a:gs pos="1042">
                <a:srgbClr val="2DD4BF">
                  <a:alpha val="6000"/>
                </a:srgbClr>
              </a:gs>
              <a:gs pos="1042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0"/>
            <a:ext cx="12191973" cy="6857954"/>
          </a:xfrm>
          <a:prstGeom prst="rect">
            <a:avLst/>
          </a:prstGeom>
          <a:gradFill rotWithShape="1">
            <a:gsLst>
              <a:gs pos="0">
                <a:srgbClr val="2DD4BF">
                  <a:alpha val="6000"/>
                </a:srgbClr>
              </a:gs>
              <a:gs pos="1042">
                <a:srgbClr val="2DD4BF">
                  <a:alpha val="6000"/>
                </a:srgbClr>
              </a:gs>
              <a:gs pos="1042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0"/>
          </a:gra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171" y="1396963"/>
            <a:ext cx="4063991" cy="406399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2750" y="2312715"/>
            <a:ext cx="406375" cy="38041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12750" y="2604728"/>
            <a:ext cx="10883467" cy="1143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800"/>
              </a:lnSpc>
              <a:buNone/>
              <a:defRPr sz="4400" b="1">
                <a:solidFill>
                  <a:srgbClr val="FFFFFF"/>
                </a:solidFill>
              </a:defRPr>
            </a:pPr>
            <a:r>
              <a:rPr lang="en-US" sz="8800" b="1" spc="-200" kern="0" dirty="0">
                <a:solidFill>
                  <a:srgbClr val="F4F6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8800" dirty="0"/>
          </a:p>
        </p:txBody>
      </p:sp>
      <p:sp>
        <p:nvSpPr>
          <p:cNvPr id="8" name="Text 5"/>
          <p:cNvSpPr/>
          <p:nvPr/>
        </p:nvSpPr>
        <p:spPr>
          <a:xfrm>
            <a:off x="812750" y="3976315"/>
            <a:ext cx="10883467" cy="59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  <a:defRPr sz="2800" b="1">
                <a:solidFill>
                  <a:srgbClr val="38BDF8"/>
                </a:solidFill>
              </a:defRPr>
            </a:pPr>
            <a:r>
              <a:rPr lang="en-US" sz="3200" dirty="0">
                <a:solidFill>
                  <a:srgbClr val="2DD4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Questions?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Template</dc:title>
  <dc:subject>PptxGenJS Presentation</dc:subject>
  <dc:creator>PptxGenJS</dc:creator>
  <cp:lastModifiedBy>PptxGenJS</cp:lastModifiedBy>
  <cp:revision>1</cp:revision>
  <dcterms:created xsi:type="dcterms:W3CDTF">2026-09-30T09:34:33Z</dcterms:created>
  <dcterms:modified xsi:type="dcterms:W3CDTF">2026-09-30T09:34:33Z</dcterms:modified>
</cp:coreProperties>
</file>