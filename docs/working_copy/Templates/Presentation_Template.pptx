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small comparison table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live demo ready as a fallback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45000" r="18000" b="5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269967"/>
            <a:ext cx="4063991" cy="4063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50" y="812750"/>
            <a:ext cx="406375" cy="3804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812750" y="2437887"/>
            <a:ext cx="7063693" cy="854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28"/>
              </a:lnSpc>
              <a:buNone/>
            </a:pPr>
            <a:r>
              <a:rPr lang="en-US" sz="6400" b="1" spc="-1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[PROJECT TITLE]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12750" y="4854037"/>
            <a:ext cx="10883467" cy="3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[Student Name </a:t>
            </a:r>
            <a:r>
              <a:rPr lang="en-US" sz="18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</a:t>
            </a: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Roll No]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2750" y="5224847"/>
            <a:ext cx="10883467" cy="3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Guide: [Faculty Name]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5925" y="5700395"/>
            <a:ext cx="3704101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Dept. of CSE, ABES Engineering College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02518" y="5700395"/>
            <a:ext cx="595604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AKTU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80615" y="5700395"/>
            <a:ext cx="1601276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2025–26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5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70794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2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2252" y="2180537"/>
            <a:ext cx="290458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&amp; Problem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2750" y="270439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22252" y="2870167"/>
            <a:ext cx="134105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50" y="339402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2252" y="3559796"/>
            <a:ext cx="409355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&amp; Architecture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750" y="408365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430274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22252" y="4249426"/>
            <a:ext cx="1242209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4535" y="2014762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535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4036" y="2180537"/>
            <a:ext cx="298394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&amp; Demo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24535" y="270439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535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4036" y="2870167"/>
            <a:ext cx="963604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24535" y="339402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535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4036" y="3559796"/>
            <a:ext cx="338130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2750" y="6238248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7124" y="6238248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6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Background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69359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094" y="2243999"/>
            <a:ext cx="5151163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[Why this attack matters, 2-3 bullets]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750" y="281096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3065565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094" y="3040204"/>
            <a:ext cx="4382382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[Real-world impact / a statistic]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D4F4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A9DCD5"/>
          </a:solidFill>
          <a:ln/>
        </p:spPr>
      </p:sp>
      <p:sp>
        <p:nvSpPr>
          <p:cNvPr id="4" name="Text 2"/>
          <p:cNvSpPr/>
          <p:nvPr/>
        </p:nvSpPr>
        <p:spPr>
          <a:xfrm>
            <a:off x="1168283" y="812749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750" y="3647351"/>
            <a:ext cx="9810744" cy="58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[The specific gap you solve, 1-2 bullets]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163" y="2270023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324492" y="2167796"/>
            <a:ext cx="2339555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 [attack] safely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5925" y="2709404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63" y="2964666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324492" y="2862439"/>
            <a:ext cx="3669389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it with [rule/threshold/model]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5925" y="3404043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163" y="365930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24492" y="3557079"/>
            <a:ext cx="2501011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+ respond ([action])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925" y="4098686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5163" y="435394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24492" y="4251722"/>
            <a:ext cx="4300223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Demonstrate a working model + dashboard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7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Literature Survey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Existing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4"/>
            <a:ext cx="3380329" cy="2158789"/>
          </a:xfrm>
          <a:prstGeom prst="roundRect">
            <a:avLst>
              <a:gd name="adj" fmla="val 5736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1365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1365" y="2685879"/>
            <a:ext cx="2852532" cy="60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[Existing tool/approach 1]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21365" y="3422489"/>
            <a:ext cx="304751" cy="190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121365" y="3593852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[limitation]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5792" y="2014764"/>
            <a:ext cx="3380389" cy="2158789"/>
          </a:xfrm>
          <a:prstGeom prst="roundRect">
            <a:avLst>
              <a:gd name="adj" fmla="val 5736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1232" y="2320203"/>
            <a:ext cx="2852594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1232" y="2685879"/>
            <a:ext cx="2852594" cy="60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[Existing tool/approach 2]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11232" y="3422489"/>
            <a:ext cx="304751" cy="190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711232" y="3593852"/>
            <a:ext cx="285259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[limitation]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5719" y="2014764"/>
            <a:ext cx="3380329" cy="2158789"/>
          </a:xfrm>
          <a:prstGeom prst="roundRect">
            <a:avLst>
              <a:gd name="adj" fmla="val 5736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1159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1159" y="2685879"/>
            <a:ext cx="2852532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[How yours differs]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01159" y="3130358"/>
            <a:ext cx="304751" cy="1902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8301159" y="3301721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8C4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[the one thing]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Methodology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5163" y="2243999"/>
            <a:ext cx="304751" cy="304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16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</a:t>
            </a:r>
            <a:endParaRPr lang="en-US" sz="20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3162297" y="2523387"/>
            <a:ext cx="304751" cy="17776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97208" y="2014761"/>
            <a:ext cx="221627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0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6446" y="2243999"/>
            <a:ext cx="304751" cy="3047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6446" y="2675734"/>
            <a:ext cx="1810532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</a:t>
            </a:r>
            <a:endParaRPr lang="en-US" sz="20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5943641" y="2523387"/>
            <a:ext cx="304751" cy="17776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78552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4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7789" y="2243999"/>
            <a:ext cx="304751" cy="3047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07789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</a:t>
            </a:r>
            <a:endParaRPr lang="en-US" sz="20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-1" r="-1" t="0" b="0"/>
          <a:stretch/>
        </p:blipFill>
        <p:spPr>
          <a:xfrm>
            <a:off x="8724924" y="2523387"/>
            <a:ext cx="304751" cy="17776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15983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</p:sp>
      <p:pic>
        <p:nvPicPr>
          <p:cNvPr id="18" name="Image 6" descr="Verified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89073" y="2243999"/>
            <a:ext cx="304751" cy="30475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38907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0" name="Text 11"/>
          <p:cNvSpPr/>
          <p:nvPr/>
        </p:nvSpPr>
        <p:spPr>
          <a:xfrm>
            <a:off x="812750" y="3568551"/>
            <a:ext cx="10566473" cy="687033"/>
          </a:xfrm>
          <a:prstGeom prst="roundRect">
            <a:avLst>
              <a:gd name="adj" fmla="val 14788"/>
            </a:avLst>
          </a:prstGeom>
          <a:solidFill>
            <a:srgbClr val="EAEFF3"/>
          </a:solidFill>
          <a:ln/>
        </p:spPr>
        <p:txBody>
          <a:bodyPr wrap="square" lIns="233623" tIns="173442" rIns="198842" bIns="148017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[Your specific method / the unique difference]</a:t>
            </a:r>
            <a:endParaRPr lang="en-US" sz="1700" dirty="0"/>
          </a:p>
        </p:txBody>
      </p:sp>
      <p:sp>
        <p:nvSpPr>
          <p:cNvPr id="21" name="Shape 12"/>
          <p:cNvSpPr/>
          <p:nvPr/>
        </p:nvSpPr>
        <p:spPr>
          <a:xfrm>
            <a:off x="812750" y="3568551"/>
            <a:ext cx="10566473" cy="687033"/>
          </a:xfrm>
          <a:custGeom>
            <a:avLst/>
            <a:gdLst/>
            <a:ahLst/>
            <a:cxnLst/>
            <a:rect l="l" t="t" r="r" b="b"/>
            <a:pathLst>
              <a:path w="10566473" h="687033">
                <a:moveTo>
                  <a:pt x="101600" y="687033"/>
                </a:moveTo>
                <a:lnTo>
                  <a:pt x="101600" y="68703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85433"/>
                </a:lnTo>
                <a:arcTo hR="101600" wR="63500" stAng="10800000" swAng="-5400000"/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2" name="Text 13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5702272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4343" y="2023179"/>
            <a:ext cx="5691785" cy="3405760"/>
          </a:xfrm>
          <a:prstGeom prst="roundRect">
            <a:avLst>
              <a:gd name="adj" fmla="val 3389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[Paste your architecture/block diagram]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84866" y="2014761"/>
            <a:ext cx="4591181" cy="871251"/>
          </a:xfrm>
          <a:prstGeom prst="roundRect">
            <a:avLst>
              <a:gd name="adj" fmla="val 1129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8743" y="2343690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98246" y="2193218"/>
            <a:ext cx="3681143" cy="539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Attacker/simulator → Target → Detector → Response → Dashboard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04512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 Diagram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10553773" cy="3543292"/>
          </a:xfrm>
          <a:prstGeom prst="roundRect">
            <a:avLst>
              <a:gd name="adj" fmla="val 3405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4343" y="2023182"/>
            <a:ext cx="10543286" cy="3532805"/>
          </a:xfrm>
          <a:prstGeom prst="roundRect">
            <a:avLst>
              <a:gd name="adj" fmla="val 3267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[Paste DFD Level 0 (context) and Level 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00827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80537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 simulator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12750" y="2638332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82439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094" y="2804108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collector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2750" y="3261903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447969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094" y="3427679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 engine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2750" y="388547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40715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094" y="4051250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Responder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12750" y="450904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750" y="4695106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094" y="4674822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/ UI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7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0584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7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0249" y="2409087"/>
            <a:ext cx="279390" cy="279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32552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32552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[Streamlit / Flask / React]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188044" y="2014767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2703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12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2368" y="2409087"/>
            <a:ext cx="279390" cy="279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4671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04671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[Python detector / FastAPI]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5925" y="3283403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0584" y="3538060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17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0249" y="3677729"/>
            <a:ext cx="279390" cy="279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32552" y="3538060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832552" y="3827537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[SQLite / logs / pcap]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8044" y="3283403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2703" y="3538060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22" name="Image 3" descr="Wren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2368" y="3677729"/>
            <a:ext cx="279390" cy="279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4671" y="3538060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TOOLS: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204671" y="3827537"/>
            <a:ext cx="4034219" cy="59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[watchdog, psutil, Scapy, Sysmon, Hydra, …]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(1)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4343" y="2023182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689" y="2150163"/>
            <a:ext cx="101564" cy="101564"/>
          </a:xfrm>
          <a:prstGeom prst="rect">
            <a:avLst/>
          </a:prstGeom>
        </p:spPr>
      </p:pic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4395" y="2150163"/>
            <a:ext cx="101564" cy="101564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32101" y="2150163"/>
            <a:ext cx="101564" cy="1015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[Screenshot: attack running]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</p:sp>
      <p:sp>
        <p:nvSpPr>
          <p:cNvPr id="13" name="Text 8"/>
          <p:cNvSpPr/>
          <p:nvPr/>
        </p:nvSpPr>
        <p:spPr>
          <a:xfrm>
            <a:off x="8115181" y="2237960"/>
            <a:ext cx="3361964" cy="6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[2-3 bullets on what it shows]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4343" y="2023176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689" y="2150163"/>
            <a:ext cx="101564" cy="101564"/>
          </a:xfrm>
          <a:prstGeom prst="rect">
            <a:avLst/>
          </a:prstGeom>
        </p:spPr>
      </p:pic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4395" y="2150163"/>
            <a:ext cx="101564" cy="101564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32101" y="2150163"/>
            <a:ext cx="101564" cy="1015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[Screenshot: detector alert firing + the dashboard]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</p:sp>
      <p:sp>
        <p:nvSpPr>
          <p:cNvPr id="13" name="Text 8"/>
          <p:cNvSpPr/>
          <p:nvPr/>
        </p:nvSpPr>
        <p:spPr>
          <a:xfrm>
            <a:off x="8115181" y="2237960"/>
            <a:ext cx="3361964" cy="33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[2-3 bullets]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82418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163" y="2219182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[Test-case table: attack fires alert]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153818" y="2180537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8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93483" y="2264290"/>
            <a:ext cx="190447" cy="1904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60072" y="2243999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5925" y="2812238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5163" y="3016659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[Negative control: normal activity = no alert]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153818" y="2978014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13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93483" y="3061760"/>
            <a:ext cx="190447" cy="1904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60072" y="3041476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750" y="3606533"/>
            <a:ext cx="10566473" cy="848194"/>
          </a:xfrm>
          <a:prstGeom prst="roundRect">
            <a:avLst>
              <a:gd name="adj" fmla="val 11978"/>
            </a:avLst>
          </a:prstGeom>
          <a:solidFill>
            <a:srgbClr val="0E1726"/>
          </a:solidFill>
          <a:ln/>
        </p:spPr>
      </p:sp>
      <p:pic>
        <p:nvPicPr>
          <p:cNvPr id="16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719" y="3878256"/>
            <a:ext cx="304751" cy="3047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5439" y="3915091"/>
            <a:ext cx="944885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[METRIC]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773494" y="3835084"/>
            <a:ext cx="8602313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[detection time / false-positive rate]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3707674"/>
            <a:ext cx="50782" cy="43813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117501" y="3707674"/>
            <a:ext cx="9496850" cy="463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[What you built and proved in one or two bullets]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1365" y="2320206"/>
            <a:ext cx="355593" cy="355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24882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1365" y="2878981"/>
            <a:ext cx="2870008" cy="34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[Automated response]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97338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2778" y="2320206"/>
            <a:ext cx="355593" cy="355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06295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02778" y="2878981"/>
            <a:ext cx="2870008" cy="34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[More attack variants]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978751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4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84191" y="2320206"/>
            <a:ext cx="355593" cy="355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7708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84191" y="2878981"/>
            <a:ext cx="2870008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[ML-based detection / a real SIEM]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2750" y="6238242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417124" y="6238242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19321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93218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750" y="2658628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837073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094" y="2837073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50" y="330248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4809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094" y="3480941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… (IEEE format)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750" y="6238255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[PROJECT TITLE]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7124" y="6238255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50000" r="18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396963"/>
            <a:ext cx="4063991" cy="4063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50" y="2312715"/>
            <a:ext cx="406375" cy="3804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812750" y="2604728"/>
            <a:ext cx="10883467" cy="1143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800" b="1" spc="-20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12750" y="3976315"/>
            <a:ext cx="10883467" cy="59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PptxGenJS</dc:creator>
  <cp:lastModifiedBy>PptxGenJS</cp:lastModifiedBy>
  <cp:revision>1</cp:revision>
  <dcterms:created xsi:type="dcterms:W3CDTF">2026-09-30T09:34:33Z</dcterms:created>
  <dcterms:modified xsi:type="dcterms:W3CDTF">2026-09-30T09:34:33Z</dcterms:modified>
</cp:coreProperties>
</file>